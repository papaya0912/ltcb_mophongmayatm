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9" r:id="rId14"/>
    <p:sldId id="272" r:id="rId15"/>
    <p:sldId id="273"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ần Mặc định" id="{0B9CC374-C754-4AAC-BBD8-CEF145EFBF76}">
          <p14:sldIdLst>
            <p14:sldId id="257"/>
            <p14:sldId id="256"/>
            <p14:sldId id="258"/>
            <p14:sldId id="259"/>
            <p14:sldId id="260"/>
            <p14:sldId id="261"/>
            <p14:sldId id="262"/>
            <p14:sldId id="263"/>
            <p14:sldId id="264"/>
            <p14:sldId id="265"/>
            <p14:sldId id="266"/>
            <p14:sldId id="267"/>
            <p14:sldId id="269"/>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24128D-CC2B-4E00-85C9-E9326CAFE01B}" v="66" dt="2024-04-01T12:13:00.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415CA78-6196-8E4D-7B20-9FF1127281DB}"/>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5012CF29-D052-306C-BFB0-6E90721FE0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27A7C992-4864-A2AF-C22B-46192D5D0791}"/>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5" name="Chỗ dành sẵn cho Chân trang 4">
            <a:extLst>
              <a:ext uri="{FF2B5EF4-FFF2-40B4-BE49-F238E27FC236}">
                <a16:creationId xmlns:a16="http://schemas.microsoft.com/office/drawing/2014/main" id="{8227139B-0B43-7AEF-2C80-F2187AC4633D}"/>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5E53610D-F6EB-280B-E196-6C77E058A43A}"/>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1811486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31A2F39-7D08-405E-1C41-03246708846E}"/>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9FB0D7A3-1B6F-D44A-534A-70001C8FAD00}"/>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3C2ED22B-7B4B-7821-BE3E-66F4D3CB30ED}"/>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5" name="Chỗ dành sẵn cho Chân trang 4">
            <a:extLst>
              <a:ext uri="{FF2B5EF4-FFF2-40B4-BE49-F238E27FC236}">
                <a16:creationId xmlns:a16="http://schemas.microsoft.com/office/drawing/2014/main" id="{28646D2D-158F-D9BF-8E03-438600B9C404}"/>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67B2C186-A6F2-143B-CAC6-BEF1AE3F10C0}"/>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3600837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8A2CF4B-0106-D582-6487-FCFC9C66E2C5}"/>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5B1A1D3C-6268-F3BC-1B8B-FB2D69A72B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9CB3478F-145B-1CF7-589C-E9D405E560EE}"/>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5" name="Chỗ dành sẵn cho Chân trang 4">
            <a:extLst>
              <a:ext uri="{FF2B5EF4-FFF2-40B4-BE49-F238E27FC236}">
                <a16:creationId xmlns:a16="http://schemas.microsoft.com/office/drawing/2014/main" id="{12E1F005-E59E-BE00-CF26-31C0C0D992EF}"/>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C8457712-48F0-3FBE-4193-C18168BCBC29}"/>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2718777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05F4E41-8753-860E-B4AF-31AC921F198D}"/>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15F35560-815E-01C7-BE3A-96D4BEB65965}"/>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06F21EBB-8A10-CCA3-B7F6-589CD2261040}"/>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F2445146-1B71-0AD8-846A-213A63E98162}"/>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6" name="Chỗ dành sẵn cho Chân trang 5">
            <a:extLst>
              <a:ext uri="{FF2B5EF4-FFF2-40B4-BE49-F238E27FC236}">
                <a16:creationId xmlns:a16="http://schemas.microsoft.com/office/drawing/2014/main" id="{670668BC-0AA7-FC24-8ABE-2E2357E94A61}"/>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AC749270-54E6-306B-CD11-EF38D27CF47B}"/>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4246395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2DC9E02-888A-943C-F98A-4E198144DC39}"/>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B0B47704-07A9-6208-DD07-3997439DA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972E495F-4743-FD0D-22AA-379844CCF7C2}"/>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AB9A7796-899D-F16E-2CEE-FD44A57317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1B458E10-7532-DFA9-52D0-4FC0F73786B9}"/>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E0185656-FC69-7656-6989-0AEE3AA5F1C0}"/>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8" name="Chỗ dành sẵn cho Chân trang 7">
            <a:extLst>
              <a:ext uri="{FF2B5EF4-FFF2-40B4-BE49-F238E27FC236}">
                <a16:creationId xmlns:a16="http://schemas.microsoft.com/office/drawing/2014/main" id="{DB8DA2FA-4283-1D45-0EE0-BAB8612146E8}"/>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5CF60D28-2CEB-E172-847E-883A45D9ABAA}"/>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370844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35DDF83-FB83-244D-6977-35786BB44E16}"/>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6599BAE9-43EA-DA9A-8EA1-99E5DE753614}"/>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4" name="Chỗ dành sẵn cho Chân trang 3">
            <a:extLst>
              <a:ext uri="{FF2B5EF4-FFF2-40B4-BE49-F238E27FC236}">
                <a16:creationId xmlns:a16="http://schemas.microsoft.com/office/drawing/2014/main" id="{2EEE2F42-B064-BBB9-F3A3-D61ED7C8B584}"/>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F0CF9A0D-7425-26A3-360A-32B7B0880590}"/>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3980370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9217F048-9ACE-CCB0-21E5-119F64F8808A}"/>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3" name="Chỗ dành sẵn cho Chân trang 2">
            <a:extLst>
              <a:ext uri="{FF2B5EF4-FFF2-40B4-BE49-F238E27FC236}">
                <a16:creationId xmlns:a16="http://schemas.microsoft.com/office/drawing/2014/main" id="{306405DB-84F1-CF1D-CA48-F8C771F3969B}"/>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D386AF5A-5E84-4DBB-72BA-0CBEFB3FBE19}"/>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3022695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457C767-38E2-4D7F-954A-59AD55E554D7}"/>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638C9EC5-F399-8FB9-A3EE-F7EB270ED5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F0B0240D-11C7-78DF-39E4-639B7CC69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26D1D95A-9733-0465-6FB4-70D52C167EC3}"/>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6" name="Chỗ dành sẵn cho Chân trang 5">
            <a:extLst>
              <a:ext uri="{FF2B5EF4-FFF2-40B4-BE49-F238E27FC236}">
                <a16:creationId xmlns:a16="http://schemas.microsoft.com/office/drawing/2014/main" id="{3352D878-0E4F-A7D1-945E-17D240A213D5}"/>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C9B072C5-6B0D-EBDC-34A2-13BBEE891702}"/>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3356037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8D19A0-606B-0806-29B0-B7DE5D007220}"/>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479B3CEC-A5C8-B389-0D4F-2CA1627DE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E4E4F9AE-7F5B-827B-68BB-0A25C2F718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863E48BF-F066-B05B-CD94-2447A75B1E67}"/>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6" name="Chỗ dành sẵn cho Chân trang 5">
            <a:extLst>
              <a:ext uri="{FF2B5EF4-FFF2-40B4-BE49-F238E27FC236}">
                <a16:creationId xmlns:a16="http://schemas.microsoft.com/office/drawing/2014/main" id="{A4862F4E-CA99-5831-F21F-4A9C1E6C4C3F}"/>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3D83A419-33A2-9012-6D8A-6DCB9641DA98}"/>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1444212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1E4CCE1-45F0-8276-F61A-B43C9596F1AE}"/>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45287FC7-63C1-C208-1F04-B80894E74E4F}"/>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2A78A73C-5C97-4550-BD6B-8CF28A8DAEC3}"/>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5" name="Chỗ dành sẵn cho Chân trang 4">
            <a:extLst>
              <a:ext uri="{FF2B5EF4-FFF2-40B4-BE49-F238E27FC236}">
                <a16:creationId xmlns:a16="http://schemas.microsoft.com/office/drawing/2014/main" id="{7AEA3201-35DE-B44D-504D-37AD8CFA0D6C}"/>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7368D005-C649-BC31-BBAB-B77CEBB4DC90}"/>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892083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AFB22C03-B0CD-1DB8-A7DC-D398E2785CF9}"/>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BFF59404-B900-41D6-DF82-FC260CCFF469}"/>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E5433185-01CD-BF07-0EE7-3B35B5FCC798}"/>
              </a:ext>
            </a:extLst>
          </p:cNvPr>
          <p:cNvSpPr>
            <a:spLocks noGrp="1"/>
          </p:cNvSpPr>
          <p:nvPr>
            <p:ph type="dt" sz="half" idx="10"/>
          </p:nvPr>
        </p:nvSpPr>
        <p:spPr/>
        <p:txBody>
          <a:bodyPr/>
          <a:lstStyle/>
          <a:p>
            <a:fld id="{45C5FB02-8C68-4F9B-BF5C-CB1DF06F308F}" type="datetimeFigureOut">
              <a:rPr lang="en-US" smtClean="0"/>
              <a:t>4/2/2024</a:t>
            </a:fld>
            <a:endParaRPr lang="en-US"/>
          </a:p>
        </p:txBody>
      </p:sp>
      <p:sp>
        <p:nvSpPr>
          <p:cNvPr id="5" name="Chỗ dành sẵn cho Chân trang 4">
            <a:extLst>
              <a:ext uri="{FF2B5EF4-FFF2-40B4-BE49-F238E27FC236}">
                <a16:creationId xmlns:a16="http://schemas.microsoft.com/office/drawing/2014/main" id="{D06B3C5A-97C9-8ED7-7C21-9548F3C9A80D}"/>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667D1E39-D2C5-F222-863D-113E5264F3DF}"/>
              </a:ext>
            </a:extLst>
          </p:cNvPr>
          <p:cNvSpPr>
            <a:spLocks noGrp="1"/>
          </p:cNvSpPr>
          <p:nvPr>
            <p:ph type="sldNum" sz="quarter" idx="12"/>
          </p:nvPr>
        </p:nvSpPr>
        <p:spPr/>
        <p:txBody>
          <a:bodyPr/>
          <a:lstStyle/>
          <a:p>
            <a:fld id="{F0D6C59B-35E2-4B11-808C-80384365342C}" type="slidenum">
              <a:rPr lang="en-US" smtClean="0"/>
              <a:t>‹#›</a:t>
            </a:fld>
            <a:endParaRPr lang="en-US"/>
          </a:p>
        </p:txBody>
      </p:sp>
    </p:spTree>
    <p:extLst>
      <p:ext uri="{BB962C8B-B14F-4D97-AF65-F5344CB8AC3E}">
        <p14:creationId xmlns:p14="http://schemas.microsoft.com/office/powerpoint/2010/main" val="2262728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B163227F-1BC0-FBDC-A409-C61C0426CF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61958EA7-9CC2-9462-E988-E1CC1A8312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6410BA92-B232-DE28-E981-7D2C8926AC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C5FB02-8C68-4F9B-BF5C-CB1DF06F308F}" type="datetimeFigureOut">
              <a:rPr lang="en-US" smtClean="0"/>
              <a:t>4/2/2024</a:t>
            </a:fld>
            <a:endParaRPr lang="en-US"/>
          </a:p>
        </p:txBody>
      </p:sp>
      <p:sp>
        <p:nvSpPr>
          <p:cNvPr id="5" name="Chỗ dành sẵn cho Chân trang 4">
            <a:extLst>
              <a:ext uri="{FF2B5EF4-FFF2-40B4-BE49-F238E27FC236}">
                <a16:creationId xmlns:a16="http://schemas.microsoft.com/office/drawing/2014/main" id="{C0F05192-3B00-74BA-9513-87A62DE609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id="{B7E014AA-81AB-632E-3697-018C820D4F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D6C59B-35E2-4B11-808C-80384365342C}" type="slidenum">
              <a:rPr lang="en-US" smtClean="0"/>
              <a:t>‹#›</a:t>
            </a:fld>
            <a:endParaRPr lang="en-US"/>
          </a:p>
        </p:txBody>
      </p:sp>
    </p:spTree>
    <p:extLst>
      <p:ext uri="{BB962C8B-B14F-4D97-AF65-F5344CB8AC3E}">
        <p14:creationId xmlns:p14="http://schemas.microsoft.com/office/powerpoint/2010/main" val="60060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văn bản, ảnh chụp màn hình, biểu tượng, Phông chữ&#10;&#10;Mô tả được tạo tự động">
            <a:extLst>
              <a:ext uri="{FF2B5EF4-FFF2-40B4-BE49-F238E27FC236}">
                <a16:creationId xmlns:a16="http://schemas.microsoft.com/office/drawing/2014/main" id="{934099EE-DAA8-660B-E5DB-A94E8C8B67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Hộp Văn bản 6">
            <a:extLst>
              <a:ext uri="{FF2B5EF4-FFF2-40B4-BE49-F238E27FC236}">
                <a16:creationId xmlns:a16="http://schemas.microsoft.com/office/drawing/2014/main" id="{CFA11E7A-AC32-EB70-B1DB-EC5BC62B96B4}"/>
              </a:ext>
            </a:extLst>
          </p:cNvPr>
          <p:cNvSpPr txBox="1"/>
          <p:nvPr/>
        </p:nvSpPr>
        <p:spPr>
          <a:xfrm>
            <a:off x="3087328" y="78659"/>
            <a:ext cx="6174658" cy="1957780"/>
          </a:xfrm>
          <a:prstGeom prst="rect">
            <a:avLst/>
          </a:prstGeom>
          <a:noFill/>
        </p:spPr>
        <p:txBody>
          <a:bodyPr wrap="square">
            <a:spAutoFit/>
          </a:bodyPr>
          <a:lstStyle/>
          <a:p>
            <a:pPr algn="ctr">
              <a:spcAft>
                <a:spcPts val="400"/>
              </a:spcAft>
            </a:pPr>
            <a:r>
              <a:rPr lang="en-US" sz="2400" b="1" kern="1400" spc="-5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TRƯỜNG ĐẠI HỌC CẦN THƠ</a:t>
            </a:r>
            <a:endParaRPr lang="en-US" sz="2400" kern="1400" spc="-50">
              <a:solidFill>
                <a:srgbClr val="FF0000"/>
              </a:solidFill>
              <a:effectLst/>
              <a:latin typeface="Calibri Light" panose="020F0302020204030204" pitchFamily="34" charset="0"/>
              <a:ea typeface="Times New Roman" panose="02020603050405020304" pitchFamily="18" charset="0"/>
              <a:cs typeface="Angsana New" panose="02020603050405020304" pitchFamily="18" charset="-34"/>
            </a:endParaRPr>
          </a:p>
          <a:p>
            <a:pPr algn="ctr">
              <a:lnSpc>
                <a:spcPct val="120000"/>
              </a:lnSpc>
              <a:spcBef>
                <a:spcPts val="600"/>
              </a:spcBef>
            </a:pPr>
            <a:r>
              <a:rPr lang="en-US" sz="2400" b="1">
                <a:solidFill>
                  <a:srgbClr val="FF0000"/>
                </a:solidFill>
                <a:effectLst/>
                <a:latin typeface="Times New Roman" panose="02020603050405020304" pitchFamily="18" charset="0"/>
                <a:ea typeface="Times New Roman" panose="02020603050405020304" pitchFamily="18" charset="0"/>
              </a:rPr>
              <a:t>TRƯỜNG BÁCH KHOA</a:t>
            </a:r>
            <a:endParaRPr lang="en-US" sz="2400">
              <a:solidFill>
                <a:srgbClr val="FF0000"/>
              </a:solidFill>
              <a:effectLst/>
              <a:latin typeface="Times New Roman" panose="02020603050405020304" pitchFamily="18" charset="0"/>
              <a:ea typeface="Times New Roman" panose="02020603050405020304" pitchFamily="18" charset="0"/>
            </a:endParaRPr>
          </a:p>
          <a:p>
            <a:pPr algn="ctr">
              <a:lnSpc>
                <a:spcPct val="120000"/>
              </a:lnSpc>
              <a:spcBef>
                <a:spcPts val="600"/>
              </a:spcBef>
            </a:pPr>
            <a:r>
              <a:rPr lang="en-US" sz="2400" b="1">
                <a:solidFill>
                  <a:srgbClr val="FF0000"/>
                </a:solidFill>
                <a:effectLst/>
                <a:latin typeface="Times New Roman" panose="02020603050405020304" pitchFamily="18" charset="0"/>
                <a:ea typeface="Times New Roman" panose="02020603050405020304" pitchFamily="18" charset="0"/>
              </a:rPr>
              <a:t>KHOA ĐIỆN TỬ VIỄN THÔNG</a:t>
            </a:r>
            <a:endParaRPr lang="en-US" sz="2400">
              <a:solidFill>
                <a:srgbClr val="FF0000"/>
              </a:solidFill>
              <a:effectLst/>
              <a:latin typeface="Times New Roman" panose="02020603050405020304" pitchFamily="18" charset="0"/>
              <a:ea typeface="Times New Roman" panose="02020603050405020304" pitchFamily="18" charset="0"/>
            </a:endParaRPr>
          </a:p>
          <a:p>
            <a:pPr algn="ctr">
              <a:lnSpc>
                <a:spcPct val="120000"/>
              </a:lnSpc>
            </a:pPr>
            <a:r>
              <a:rPr lang="en-US" sz="2400" b="1">
                <a:effectLst/>
                <a:latin typeface="Times New Roman" panose="02020603050405020304" pitchFamily="18" charset="0"/>
                <a:ea typeface="Times New Roman" panose="02020603050405020304" pitchFamily="18" charset="0"/>
              </a:rPr>
              <a:t>******</a:t>
            </a:r>
            <a:r>
              <a:rPr lang="vi-VN" sz="2400" b="1">
                <a:effectLst/>
                <a:latin typeface="Times New Roman" panose="02020603050405020304" pitchFamily="18" charset="0"/>
                <a:ea typeface="Times New Roman" panose="02020603050405020304" pitchFamily="18" charset="0"/>
              </a:rPr>
              <a:t> </a:t>
            </a:r>
            <a:endParaRPr lang="en-US" sz="2400">
              <a:effectLst/>
              <a:latin typeface="Times New Roman" panose="02020603050405020304" pitchFamily="18" charset="0"/>
              <a:ea typeface="Times New Roman" panose="02020603050405020304" pitchFamily="18" charset="0"/>
            </a:endParaRPr>
          </a:p>
        </p:txBody>
      </p:sp>
      <p:sp>
        <p:nvSpPr>
          <p:cNvPr id="8" name="Hộp Văn bản 7">
            <a:extLst>
              <a:ext uri="{FF2B5EF4-FFF2-40B4-BE49-F238E27FC236}">
                <a16:creationId xmlns:a16="http://schemas.microsoft.com/office/drawing/2014/main" id="{0D3D8E8F-7EFD-AB92-9872-D59B5A9FDCFF}"/>
              </a:ext>
            </a:extLst>
          </p:cNvPr>
          <p:cNvSpPr txBox="1"/>
          <p:nvPr/>
        </p:nvSpPr>
        <p:spPr>
          <a:xfrm flipH="1">
            <a:off x="2821858" y="2115098"/>
            <a:ext cx="6548284" cy="496867"/>
          </a:xfrm>
          <a:prstGeom prst="rect">
            <a:avLst/>
          </a:prstGeom>
          <a:noFill/>
        </p:spPr>
        <p:txBody>
          <a:bodyPr wrap="square" rtlCol="0">
            <a:spAutoFit/>
          </a:bodyPr>
          <a:lstStyle/>
          <a:p>
            <a:pPr algn="ctr">
              <a:lnSpc>
                <a:spcPct val="120000"/>
              </a:lnSpc>
            </a:pPr>
            <a:r>
              <a:rPr lang="vi-VN" sz="2400" b="1">
                <a:effectLst/>
                <a:latin typeface="Times New Roman" panose="02020603050405020304" pitchFamily="18" charset="0"/>
                <a:ea typeface="Times New Roman" panose="02020603050405020304" pitchFamily="18" charset="0"/>
              </a:rPr>
              <a:t>ĐỒ ÁN LẬP TRÌNH CĂN BẢN-ĐIỆN TỬ </a:t>
            </a:r>
            <a:endParaRPr lang="en-US" sz="2400">
              <a:effectLst/>
              <a:latin typeface="Times New Roman" panose="02020603050405020304" pitchFamily="18" charset="0"/>
              <a:ea typeface="Times New Roman" panose="02020603050405020304" pitchFamily="18" charset="0"/>
            </a:endParaRPr>
          </a:p>
        </p:txBody>
      </p:sp>
      <p:sp>
        <p:nvSpPr>
          <p:cNvPr id="9" name="Hộp Văn bản 8">
            <a:extLst>
              <a:ext uri="{FF2B5EF4-FFF2-40B4-BE49-F238E27FC236}">
                <a16:creationId xmlns:a16="http://schemas.microsoft.com/office/drawing/2014/main" id="{D67C5F86-F4BA-1574-060F-D995F44B3A47}"/>
              </a:ext>
            </a:extLst>
          </p:cNvPr>
          <p:cNvSpPr txBox="1"/>
          <p:nvPr/>
        </p:nvSpPr>
        <p:spPr>
          <a:xfrm>
            <a:off x="2467897" y="2854596"/>
            <a:ext cx="7256206" cy="3693319"/>
          </a:xfrm>
          <a:prstGeom prst="rect">
            <a:avLst/>
          </a:prstGeom>
          <a:noFill/>
        </p:spPr>
        <p:txBody>
          <a:bodyPr wrap="square" rtlCol="0">
            <a:spAutoFit/>
          </a:bodyPr>
          <a:lstStyle/>
          <a:p>
            <a:pPr algn="ctr">
              <a:lnSpc>
                <a:spcPct val="120000"/>
              </a:lnSpc>
            </a:pPr>
            <a:r>
              <a:rPr lang="vi-VN" sz="3600" b="1">
                <a:effectLst/>
                <a:latin typeface="Times New Roman" panose="02020603050405020304" pitchFamily="18" charset="0"/>
                <a:ea typeface="Times New Roman" panose="02020603050405020304" pitchFamily="18" charset="0"/>
              </a:rPr>
              <a:t>LẬP TRÌNH MÔ PHỎNG MÁY ATM BẰNG </a:t>
            </a:r>
            <a:endParaRPr lang="en-US" sz="3600">
              <a:effectLst/>
              <a:latin typeface="Times New Roman" panose="02020603050405020304" pitchFamily="18" charset="0"/>
              <a:ea typeface="Times New Roman" panose="02020603050405020304" pitchFamily="18" charset="0"/>
            </a:endParaRPr>
          </a:p>
          <a:p>
            <a:pPr algn="ctr">
              <a:lnSpc>
                <a:spcPct val="120000"/>
              </a:lnSpc>
            </a:pPr>
            <a:r>
              <a:rPr lang="vi-VN" sz="3600" b="1">
                <a:effectLst/>
                <a:latin typeface="Times New Roman" panose="02020603050405020304" pitchFamily="18" charset="0"/>
                <a:ea typeface="Times New Roman" panose="02020603050405020304" pitchFamily="18" charset="0"/>
              </a:rPr>
              <a:t>NGÔN NGỮ LẬP TRÌNH C</a:t>
            </a:r>
            <a:endParaRPr lang="en-US" sz="3600">
              <a:effectLst/>
              <a:latin typeface="Times New Roman" panose="02020603050405020304" pitchFamily="18" charset="0"/>
              <a:ea typeface="Times New Roman" panose="02020603050405020304" pitchFamily="18" charset="0"/>
            </a:endParaRPr>
          </a:p>
          <a:p>
            <a:pPr algn="l">
              <a:lnSpc>
                <a:spcPct val="120000"/>
              </a:lnSpc>
            </a:pPr>
            <a:r>
              <a:rPr lang="vi-VN" sz="3600" b="1">
                <a:effectLst/>
                <a:latin typeface="Times New Roman" panose="02020603050405020304" pitchFamily="18" charset="0"/>
                <a:ea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endParaRPr>
          </a:p>
          <a:p>
            <a:pPr algn="l">
              <a:lnSpc>
                <a:spcPct val="120000"/>
              </a:lnSpc>
            </a:pPr>
            <a:r>
              <a:rPr lang="vi-VN" sz="3600">
                <a:effectLst/>
                <a:latin typeface="Times New Roman" panose="02020603050405020304" pitchFamily="18" charset="0"/>
                <a:ea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endParaRPr>
          </a:p>
          <a:p>
            <a:endParaRPr lang="en-US"/>
          </a:p>
        </p:txBody>
      </p:sp>
      <p:sp>
        <p:nvSpPr>
          <p:cNvPr id="11" name="Hộp Văn bản 10">
            <a:extLst>
              <a:ext uri="{FF2B5EF4-FFF2-40B4-BE49-F238E27FC236}">
                <a16:creationId xmlns:a16="http://schemas.microsoft.com/office/drawing/2014/main" id="{BEC95044-3538-8ACA-DA5E-437A97702DF5}"/>
              </a:ext>
            </a:extLst>
          </p:cNvPr>
          <p:cNvSpPr txBox="1"/>
          <p:nvPr/>
        </p:nvSpPr>
        <p:spPr>
          <a:xfrm>
            <a:off x="1091381" y="5043948"/>
            <a:ext cx="3637935" cy="646331"/>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GIẢNG VIÊN HƯỚNG DẪN: </a:t>
            </a:r>
          </a:p>
          <a:p>
            <a:r>
              <a:rPr lang="en-US" b="1">
                <a:latin typeface="Times New Roman" panose="02020603050405020304" pitchFamily="18" charset="0"/>
                <a:cs typeface="Times New Roman" panose="02020603050405020304" pitchFamily="18" charset="0"/>
              </a:rPr>
              <a:t>PHẠM DUY NGHIỆP </a:t>
            </a:r>
          </a:p>
        </p:txBody>
      </p:sp>
      <p:sp>
        <p:nvSpPr>
          <p:cNvPr id="14" name="Hộp Văn bản 13">
            <a:extLst>
              <a:ext uri="{FF2B5EF4-FFF2-40B4-BE49-F238E27FC236}">
                <a16:creationId xmlns:a16="http://schemas.microsoft.com/office/drawing/2014/main" id="{3DDD50CF-A851-2EDE-F09B-248ABEEE03A2}"/>
              </a:ext>
            </a:extLst>
          </p:cNvPr>
          <p:cNvSpPr txBox="1"/>
          <p:nvPr/>
        </p:nvSpPr>
        <p:spPr>
          <a:xfrm>
            <a:off x="8190271" y="5228614"/>
            <a:ext cx="2359741"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NHÓM: 4 </a:t>
            </a:r>
          </a:p>
        </p:txBody>
      </p:sp>
    </p:spTree>
    <p:extLst>
      <p:ext uri="{BB962C8B-B14F-4D97-AF65-F5344CB8AC3E}">
        <p14:creationId xmlns:p14="http://schemas.microsoft.com/office/powerpoint/2010/main" val="190133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Hình ảnh 4" descr="Ảnh có chứa ảnh chụp màn hình, văn bản, vòng tròn, hàng&#10;&#10;Mô tả được tạo tự động">
            <a:extLst>
              <a:ext uri="{FF2B5EF4-FFF2-40B4-BE49-F238E27FC236}">
                <a16:creationId xmlns:a16="http://schemas.microsoft.com/office/drawing/2014/main" id="{F829F3B9-C463-668B-CF9E-F2A9536DB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Hộp Văn bản 5">
            <a:extLst>
              <a:ext uri="{FF2B5EF4-FFF2-40B4-BE49-F238E27FC236}">
                <a16:creationId xmlns:a16="http://schemas.microsoft.com/office/drawing/2014/main" id="{30CA4D29-F63B-A6A7-3A5E-70E1A4A898C1}"/>
              </a:ext>
            </a:extLst>
          </p:cNvPr>
          <p:cNvSpPr txBox="1"/>
          <p:nvPr/>
        </p:nvSpPr>
        <p:spPr>
          <a:xfrm>
            <a:off x="3578943" y="373627"/>
            <a:ext cx="4188542" cy="707886"/>
          </a:xfrm>
          <a:prstGeom prst="rect">
            <a:avLst/>
          </a:prstGeom>
          <a:noFill/>
        </p:spPr>
        <p:txBody>
          <a:bodyPr wrap="square" rtlCol="0">
            <a:spAutoFit/>
          </a:bodyPr>
          <a:lstStyle/>
          <a:p>
            <a:r>
              <a:rPr lang="en-US" sz="4000">
                <a:latin typeface="Times New Roman" panose="02020603050405020304" pitchFamily="18" charset="0"/>
                <a:cs typeface="Times New Roman" panose="02020603050405020304" pitchFamily="18" charset="0"/>
              </a:rPr>
              <a:t>LỜI NÓI ĐẦU </a:t>
            </a:r>
          </a:p>
        </p:txBody>
      </p:sp>
      <p:pic>
        <p:nvPicPr>
          <p:cNvPr id="9" name="Hình ảnh 8" descr="Ảnh có chứa máy, trong nhà, trang phục, Kỹ thuật viên&#10;&#10;Mô tả được tạo tự động">
            <a:extLst>
              <a:ext uri="{FF2B5EF4-FFF2-40B4-BE49-F238E27FC236}">
                <a16:creationId xmlns:a16="http://schemas.microsoft.com/office/drawing/2014/main" id="{A091247A-8C78-47C5-F2D0-A46EEACCB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2" y="1455140"/>
            <a:ext cx="5133333" cy="3476190"/>
          </a:xfrm>
          <a:prstGeom prst="rect">
            <a:avLst/>
          </a:prstGeom>
        </p:spPr>
      </p:pic>
      <p:sp>
        <p:nvSpPr>
          <p:cNvPr id="10" name="Hộp Văn bản 9">
            <a:extLst>
              <a:ext uri="{FF2B5EF4-FFF2-40B4-BE49-F238E27FC236}">
                <a16:creationId xmlns:a16="http://schemas.microsoft.com/office/drawing/2014/main" id="{FA2323E0-2770-86D2-85AC-D54861467EF3}"/>
              </a:ext>
            </a:extLst>
          </p:cNvPr>
          <p:cNvSpPr txBox="1"/>
          <p:nvPr/>
        </p:nvSpPr>
        <p:spPr>
          <a:xfrm>
            <a:off x="1285492" y="1672874"/>
            <a:ext cx="4810508" cy="5170646"/>
          </a:xfrm>
          <a:prstGeom prst="rect">
            <a:avLst/>
          </a:prstGeom>
          <a:noFill/>
        </p:spPr>
        <p:txBody>
          <a:bodyPr wrap="square" rtlCol="0">
            <a:spAutoFit/>
          </a:bodyPr>
          <a:lstStyle/>
          <a:p>
            <a:r>
              <a:rPr lang="vi-VN" sz="2400">
                <a:latin typeface="Times New Roman" panose="02020603050405020304" pitchFamily="18" charset="0"/>
                <a:cs typeface="Times New Roman" panose="02020603050405020304" pitchFamily="18" charset="0"/>
              </a:rPr>
              <a:t>Chúng t</a:t>
            </a:r>
            <a:r>
              <a:rPr lang="en-US" sz="2400">
                <a:latin typeface="Times New Roman" panose="02020603050405020304" pitchFamily="18" charset="0"/>
                <a:cs typeface="Times New Roman" panose="02020603050405020304" pitchFamily="18" charset="0"/>
              </a:rPr>
              <a:t>a</a:t>
            </a:r>
            <a:r>
              <a:rPr lang="vi-VN" sz="240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đang sống trong giai đoạn công nghiệp hóa, hiện đại hóa để nâng Việt Nam lên thành một quốc gia công nghiệp văn minh và hiện đại. Trong quá trình này, việc ứng dụng tin học vào đời sống là vô cùng quan trọng. Số lượng máy tính đang tăng lên đáng kể và việc tin học hóa diễn ra mạnh mẽ. Tin học đã được áp dụng rộng rãi trong nghiên cứu khoa học, tự động hóa, quản lí, giúp tăng năng suất lao động và cải thiện cuộc sống của mọi người. </a:t>
            </a:r>
          </a:p>
          <a:p>
            <a:endParaRPr lang="vi-V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7428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hỗ dành sẵn cho Nội dung 8" descr="Ảnh có chứa ảnh chụp màn hình, văn bản, vòng tròn, hàng&#10;&#10;Mô tả được tạo tự động">
            <a:extLst>
              <a:ext uri="{FF2B5EF4-FFF2-40B4-BE49-F238E27FC236}">
                <a16:creationId xmlns:a16="http://schemas.microsoft.com/office/drawing/2014/main" id="{9709D37F-2A06-D389-74AE-8450C00B2E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11" name="Hộp Văn bản 10">
            <a:extLst>
              <a:ext uri="{FF2B5EF4-FFF2-40B4-BE49-F238E27FC236}">
                <a16:creationId xmlns:a16="http://schemas.microsoft.com/office/drawing/2014/main" id="{3159087E-F5C2-7C78-0F9B-27288EB60ACC}"/>
              </a:ext>
            </a:extLst>
          </p:cNvPr>
          <p:cNvSpPr txBox="1"/>
          <p:nvPr/>
        </p:nvSpPr>
        <p:spPr>
          <a:xfrm>
            <a:off x="3578943" y="373627"/>
            <a:ext cx="4188542" cy="707886"/>
          </a:xfrm>
          <a:prstGeom prst="rect">
            <a:avLst/>
          </a:prstGeom>
          <a:noFill/>
        </p:spPr>
        <p:txBody>
          <a:bodyPr wrap="square" rtlCol="0">
            <a:spAutoFit/>
          </a:bodyPr>
          <a:lstStyle/>
          <a:p>
            <a:r>
              <a:rPr lang="en-US" sz="4000">
                <a:latin typeface="Times New Roman" panose="02020603050405020304" pitchFamily="18" charset="0"/>
                <a:cs typeface="Times New Roman" panose="02020603050405020304" pitchFamily="18" charset="0"/>
              </a:rPr>
              <a:t>LỜI NÓI ĐẦU </a:t>
            </a:r>
          </a:p>
        </p:txBody>
      </p:sp>
      <p:pic>
        <p:nvPicPr>
          <p:cNvPr id="14" name="Hình ảnh 13" descr="Ảnh có chứa văn bản, tòa nhà, ngoài trời, Nơi chứa rác&#10;&#10;Mô tả được tạo tự động">
            <a:extLst>
              <a:ext uri="{FF2B5EF4-FFF2-40B4-BE49-F238E27FC236}">
                <a16:creationId xmlns:a16="http://schemas.microsoft.com/office/drawing/2014/main" id="{82B60A36-D0E5-BE5A-D091-9A3D5F6E18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7894" y="2070847"/>
            <a:ext cx="4164106" cy="4329953"/>
          </a:xfrm>
          <a:prstGeom prst="rect">
            <a:avLst/>
          </a:prstGeom>
        </p:spPr>
      </p:pic>
      <p:sp>
        <p:nvSpPr>
          <p:cNvPr id="15" name="Hộp Văn bản 14">
            <a:extLst>
              <a:ext uri="{FF2B5EF4-FFF2-40B4-BE49-F238E27FC236}">
                <a16:creationId xmlns:a16="http://schemas.microsoft.com/office/drawing/2014/main" id="{27B26D0F-B3FC-1A98-CD44-FC2BD86C7D31}"/>
              </a:ext>
            </a:extLst>
          </p:cNvPr>
          <p:cNvSpPr txBox="1"/>
          <p:nvPr/>
        </p:nvSpPr>
        <p:spPr>
          <a:xfrm>
            <a:off x="1206579" y="1592111"/>
            <a:ext cx="5614736" cy="5170646"/>
          </a:xfrm>
          <a:prstGeom prst="rect">
            <a:avLst/>
          </a:prstGeom>
          <a:noFill/>
        </p:spPr>
        <p:txBody>
          <a:bodyPr wrap="square" rtlCol="0">
            <a:spAutoFit/>
          </a:bodyPr>
          <a:lstStyle/>
          <a:p>
            <a:endParaRPr lang="vi-VN"/>
          </a:p>
          <a:p>
            <a:r>
              <a:rPr lang="vi-VN" sz="2400">
                <a:latin typeface="Times New Roman" panose="02020603050405020304" pitchFamily="18" charset="0"/>
                <a:cs typeface="Times New Roman" panose="02020603050405020304" pitchFamily="18" charset="0"/>
              </a:rPr>
              <a:t>Sau khi học môn "Lập trình căn bản - điện tử", nhóm của chúng tôi muốn xây dựng một chương trình áp dụng vào đời sống và ngày càng hoàn thiện nó hơn nữa. Chúng tôi đã chọn đề tài "Hệ thống quản lý gủi và rút tiền tự động qua máy ATM" để thử sức và phát triển. Chúng tôi xin cảm ơn giảng viên Phạm Duy Nghiệp đã hỗ trợ kiến thức cho chúng tôi và mong nhận được sự cảm thông và góp ý từ mọi người để hoàn thiện chương trình này. </a:t>
            </a:r>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			Chân thành cảm ơn! </a:t>
            </a:r>
          </a:p>
        </p:txBody>
      </p:sp>
    </p:spTree>
    <p:extLst>
      <p:ext uri="{BB962C8B-B14F-4D97-AF65-F5344CB8AC3E}">
        <p14:creationId xmlns:p14="http://schemas.microsoft.com/office/powerpoint/2010/main" val="344633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4439783A-A1F6-92C4-ED25-300A17522E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Hộp Văn bản 5">
            <a:extLst>
              <a:ext uri="{FF2B5EF4-FFF2-40B4-BE49-F238E27FC236}">
                <a16:creationId xmlns:a16="http://schemas.microsoft.com/office/drawing/2014/main" id="{F011F577-B586-2390-EB19-077EEEB9F915}"/>
              </a:ext>
            </a:extLst>
          </p:cNvPr>
          <p:cNvSpPr txBox="1"/>
          <p:nvPr/>
        </p:nvSpPr>
        <p:spPr>
          <a:xfrm>
            <a:off x="2743199" y="288756"/>
            <a:ext cx="5935579" cy="707886"/>
          </a:xfrm>
          <a:prstGeom prst="rect">
            <a:avLst/>
          </a:prstGeom>
          <a:noFill/>
        </p:spPr>
        <p:txBody>
          <a:bodyPr wrap="square" rtlCol="0">
            <a:spAutoFit/>
          </a:bodyPr>
          <a:lstStyle/>
          <a:p>
            <a:r>
              <a:rPr lang="en-US" sz="4000" b="1">
                <a:latin typeface="Times New Roman" panose="02020603050405020304" pitchFamily="18" charset="0"/>
                <a:cs typeface="Times New Roman" panose="02020603050405020304" pitchFamily="18" charset="0"/>
              </a:rPr>
              <a:t>Chương 1: TỔNG QUAN </a:t>
            </a:r>
          </a:p>
        </p:txBody>
      </p:sp>
      <p:sp>
        <p:nvSpPr>
          <p:cNvPr id="11" name="Hộp Văn bản 10">
            <a:extLst>
              <a:ext uri="{FF2B5EF4-FFF2-40B4-BE49-F238E27FC236}">
                <a16:creationId xmlns:a16="http://schemas.microsoft.com/office/drawing/2014/main" id="{5D6654B6-A56F-5649-22ED-69498C757AC1}"/>
              </a:ext>
            </a:extLst>
          </p:cNvPr>
          <p:cNvSpPr txBox="1"/>
          <p:nvPr/>
        </p:nvSpPr>
        <p:spPr>
          <a:xfrm>
            <a:off x="2069432" y="2181726"/>
            <a:ext cx="1556084" cy="1796716"/>
          </a:xfrm>
          <a:prstGeom prst="rect">
            <a:avLst/>
          </a:prstGeom>
          <a:noFill/>
        </p:spPr>
        <p:txBody>
          <a:bodyPr wrap="square" rtlCol="0">
            <a:spAutoFit/>
          </a:bodyPr>
          <a:lstStyle/>
          <a:p>
            <a:endParaRPr lang="en-US"/>
          </a:p>
        </p:txBody>
      </p:sp>
      <p:sp>
        <p:nvSpPr>
          <p:cNvPr id="2" name="Hộp Văn bản 1">
            <a:extLst>
              <a:ext uri="{FF2B5EF4-FFF2-40B4-BE49-F238E27FC236}">
                <a16:creationId xmlns:a16="http://schemas.microsoft.com/office/drawing/2014/main" id="{C7F2AF41-0E9A-5B6A-3629-8C5B54BA2CF5}"/>
              </a:ext>
            </a:extLst>
          </p:cNvPr>
          <p:cNvSpPr txBox="1"/>
          <p:nvPr/>
        </p:nvSpPr>
        <p:spPr>
          <a:xfrm>
            <a:off x="168440" y="1851645"/>
            <a:ext cx="5812229" cy="584775"/>
          </a:xfrm>
          <a:prstGeom prst="rect">
            <a:avLst/>
          </a:prstGeom>
          <a:noFill/>
        </p:spPr>
        <p:txBody>
          <a:bodyPr wrap="square" rtlCol="0">
            <a:spAutoFit/>
          </a:bodyPr>
          <a:lstStyle/>
          <a:p>
            <a:r>
              <a:rPr lang="en-US" sz="3200" b="1">
                <a:latin typeface="Times New Roman" panose="02020603050405020304" pitchFamily="18" charset="0"/>
                <a:cs typeface="Times New Roman" panose="02020603050405020304" pitchFamily="18" charset="0"/>
              </a:rPr>
              <a:t>I. MỤC TIÊU VÀ YÊU CẦU</a:t>
            </a:r>
          </a:p>
        </p:txBody>
      </p:sp>
      <p:sp>
        <p:nvSpPr>
          <p:cNvPr id="3" name="Hộp Văn bản 2">
            <a:extLst>
              <a:ext uri="{FF2B5EF4-FFF2-40B4-BE49-F238E27FC236}">
                <a16:creationId xmlns:a16="http://schemas.microsoft.com/office/drawing/2014/main" id="{5C8A79DC-14D0-8246-D357-A7A096F7CB7B}"/>
              </a:ext>
            </a:extLst>
          </p:cNvPr>
          <p:cNvSpPr txBox="1"/>
          <p:nvPr/>
        </p:nvSpPr>
        <p:spPr>
          <a:xfrm>
            <a:off x="660328" y="2535668"/>
            <a:ext cx="2187146"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1.1 Mục tiêu </a:t>
            </a:r>
          </a:p>
        </p:txBody>
      </p:sp>
      <p:sp>
        <p:nvSpPr>
          <p:cNvPr id="4" name="Hộp Văn bản 3">
            <a:extLst>
              <a:ext uri="{FF2B5EF4-FFF2-40B4-BE49-F238E27FC236}">
                <a16:creationId xmlns:a16="http://schemas.microsoft.com/office/drawing/2014/main" id="{4585668B-AECC-ED43-48D4-38B58218B593}"/>
              </a:ext>
            </a:extLst>
          </p:cNvPr>
          <p:cNvSpPr txBox="1"/>
          <p:nvPr/>
        </p:nvSpPr>
        <p:spPr>
          <a:xfrm>
            <a:off x="1030403" y="3291423"/>
            <a:ext cx="5507557" cy="1938992"/>
          </a:xfrm>
          <a:prstGeom prst="rect">
            <a:avLst/>
          </a:prstGeom>
          <a:noFill/>
        </p:spPr>
        <p:txBody>
          <a:bodyPr wrap="square" rtlCol="0">
            <a:spAutoFit/>
          </a:bodyPr>
          <a:lstStyle/>
          <a:p>
            <a:r>
              <a:rPr lang="vi-VN" sz="2400">
                <a:effectLst/>
                <a:latin typeface="Times New Roman" panose="02020603050405020304" pitchFamily="18" charset="0"/>
                <a:ea typeface="Times New Roman" panose="02020603050405020304" pitchFamily="18" charset="0"/>
              </a:rPr>
              <a:t>Xây dựng hệ thống ATM( Automated Teller Machine ) cung cấp một phương tiện tiện lợi cho người dùng để thực hiện các giao dịch tài chính mà không cần phải đến ngân hàng truyền thống</a:t>
            </a:r>
            <a:r>
              <a:rPr lang="en-US" sz="2400">
                <a:effectLst/>
                <a:latin typeface="Times New Roman" panose="02020603050405020304" pitchFamily="18" charset="0"/>
                <a:ea typeface="Times New Roman" panose="02020603050405020304" pitchFamily="18" charset="0"/>
              </a:rPr>
              <a:t>.</a:t>
            </a:r>
            <a:endParaRPr lang="en-US"/>
          </a:p>
        </p:txBody>
      </p:sp>
      <p:pic>
        <p:nvPicPr>
          <p:cNvPr id="10" name="Hình ảnh 9" descr="Ảnh có chứa văn bản, máy rút tiền, máy, atm&#10;&#10;Mô tả được tạo tự động">
            <a:extLst>
              <a:ext uri="{FF2B5EF4-FFF2-40B4-BE49-F238E27FC236}">
                <a16:creationId xmlns:a16="http://schemas.microsoft.com/office/drawing/2014/main" id="{8A561B32-3966-26F6-3AA8-041075C77450}"/>
              </a:ext>
            </a:extLst>
          </p:cNvPr>
          <p:cNvPicPr>
            <a:picLocks noChangeAspect="1"/>
          </p:cNvPicPr>
          <p:nvPr/>
        </p:nvPicPr>
        <p:blipFill rotWithShape="1">
          <a:blip r:embed="rId3">
            <a:extLst>
              <a:ext uri="{28A0092B-C50C-407E-A947-70E740481C1C}">
                <a14:useLocalDpi xmlns:a14="http://schemas.microsoft.com/office/drawing/2010/main" val="0"/>
              </a:ext>
            </a:extLst>
          </a:blip>
          <a:srcRect b="7399"/>
          <a:stretch/>
        </p:blipFill>
        <p:spPr>
          <a:xfrm>
            <a:off x="6704534" y="2436420"/>
            <a:ext cx="4673589" cy="3453252"/>
          </a:xfrm>
          <a:prstGeom prst="rect">
            <a:avLst/>
          </a:prstGeom>
        </p:spPr>
      </p:pic>
    </p:spTree>
    <p:extLst>
      <p:ext uri="{BB962C8B-B14F-4D97-AF65-F5344CB8AC3E}">
        <p14:creationId xmlns:p14="http://schemas.microsoft.com/office/powerpoint/2010/main" val="602941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40" y="333494"/>
            <a:ext cx="6217920"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1: TỔNG QUAN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621792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 MỤC TIÊU VÀ YÊU CẦU</a:t>
            </a:r>
          </a:p>
        </p:txBody>
      </p:sp>
      <p:sp>
        <p:nvSpPr>
          <p:cNvPr id="15" name="Hộp Văn bản 14">
            <a:extLst>
              <a:ext uri="{FF2B5EF4-FFF2-40B4-BE49-F238E27FC236}">
                <a16:creationId xmlns:a16="http://schemas.microsoft.com/office/drawing/2014/main" id="{85469EA0-E5D8-C861-D269-ECCF43BFE9A5}"/>
              </a:ext>
            </a:extLst>
          </p:cNvPr>
          <p:cNvSpPr txBox="1"/>
          <p:nvPr/>
        </p:nvSpPr>
        <p:spPr>
          <a:xfrm>
            <a:off x="670560" y="2564368"/>
            <a:ext cx="6217920" cy="46166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1.1 Mục tiêu </a:t>
            </a:r>
          </a:p>
        </p:txBody>
      </p:sp>
      <p:sp>
        <p:nvSpPr>
          <p:cNvPr id="16" name="Hộp Văn bản 15">
            <a:extLst>
              <a:ext uri="{FF2B5EF4-FFF2-40B4-BE49-F238E27FC236}">
                <a16:creationId xmlns:a16="http://schemas.microsoft.com/office/drawing/2014/main" id="{95CC3337-7F37-3A01-FC84-19121878B991}"/>
              </a:ext>
            </a:extLst>
          </p:cNvPr>
          <p:cNvSpPr txBox="1"/>
          <p:nvPr/>
        </p:nvSpPr>
        <p:spPr>
          <a:xfrm>
            <a:off x="1287780" y="3163372"/>
            <a:ext cx="4076700" cy="2585323"/>
          </a:xfrm>
          <a:prstGeom prst="rect">
            <a:avLst/>
          </a:prstGeom>
          <a:noFill/>
        </p:spPr>
        <p:txBody>
          <a:bodyPr wrap="square" rtlCol="0">
            <a:spAutoFit/>
          </a:bodyPr>
          <a:lstStyle/>
          <a:p>
            <a:r>
              <a:rPr lang="vi-VN" sz="2400">
                <a:effectLst/>
                <a:latin typeface="Times New Roman" panose="02020603050405020304" pitchFamily="18" charset="0"/>
                <a:ea typeface="Times New Roman" panose="02020603050405020304" pitchFamily="18" charset="0"/>
              </a:rPr>
              <a:t>Các chức năng chính của cây ATM bao gồm rút tiền, kiểm tra số dư tài khoản, chuyển khoản, nạp tiền và các dịch vụ khác, giúp tiết kiệm thời gian và nâng cao tiện ích cho khách hàng.</a:t>
            </a:r>
            <a:endParaRPr lang="en-US" sz="2400">
              <a:effectLst/>
              <a:latin typeface="Times New Roman" panose="02020603050405020304" pitchFamily="18" charset="0"/>
              <a:ea typeface="Times New Roman" panose="02020603050405020304" pitchFamily="18" charset="0"/>
            </a:endParaRPr>
          </a:p>
          <a:p>
            <a:endParaRPr lang="en-US"/>
          </a:p>
        </p:txBody>
      </p:sp>
      <p:pic>
        <p:nvPicPr>
          <p:cNvPr id="18" name="Picture 15">
            <a:extLst>
              <a:ext uri="{FF2B5EF4-FFF2-40B4-BE49-F238E27FC236}">
                <a16:creationId xmlns:a16="http://schemas.microsoft.com/office/drawing/2014/main" id="{E29E9E1A-BC35-695C-E331-C97EE157F690}"/>
              </a:ext>
            </a:extLst>
          </p:cNvPr>
          <p:cNvPicPr>
            <a:picLocks noChangeAspect="1"/>
          </p:cNvPicPr>
          <p:nvPr/>
        </p:nvPicPr>
        <p:blipFill>
          <a:blip r:embed="rId3"/>
          <a:stretch>
            <a:fillRect/>
          </a:stretch>
        </p:blipFill>
        <p:spPr>
          <a:xfrm>
            <a:off x="6170236" y="2922462"/>
            <a:ext cx="5216008" cy="3253118"/>
          </a:xfrm>
          <a:prstGeom prst="rect">
            <a:avLst/>
          </a:prstGeom>
        </p:spPr>
      </p:pic>
    </p:spTree>
    <p:extLst>
      <p:ext uri="{BB962C8B-B14F-4D97-AF65-F5344CB8AC3E}">
        <p14:creationId xmlns:p14="http://schemas.microsoft.com/office/powerpoint/2010/main" val="2801659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056120"/>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40" y="333494"/>
            <a:ext cx="6217920"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1: TỔNG QUAN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621792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 MỤC TIÊU VÀ YÊU CẦU</a:t>
            </a:r>
          </a:p>
        </p:txBody>
      </p:sp>
      <p:sp>
        <p:nvSpPr>
          <p:cNvPr id="15" name="Hộp Văn bản 14">
            <a:extLst>
              <a:ext uri="{FF2B5EF4-FFF2-40B4-BE49-F238E27FC236}">
                <a16:creationId xmlns:a16="http://schemas.microsoft.com/office/drawing/2014/main" id="{85469EA0-E5D8-C861-D269-ECCF43BFE9A5}"/>
              </a:ext>
            </a:extLst>
          </p:cNvPr>
          <p:cNvSpPr txBox="1"/>
          <p:nvPr/>
        </p:nvSpPr>
        <p:spPr>
          <a:xfrm>
            <a:off x="670560" y="2564368"/>
            <a:ext cx="6217920" cy="46166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1.2 Yêu cầu  </a:t>
            </a:r>
          </a:p>
        </p:txBody>
      </p:sp>
      <p:sp>
        <p:nvSpPr>
          <p:cNvPr id="16" name="Hộp Văn bản 15">
            <a:extLst>
              <a:ext uri="{FF2B5EF4-FFF2-40B4-BE49-F238E27FC236}">
                <a16:creationId xmlns:a16="http://schemas.microsoft.com/office/drawing/2014/main" id="{95CC3337-7F37-3A01-FC84-19121878B991}"/>
              </a:ext>
            </a:extLst>
          </p:cNvPr>
          <p:cNvSpPr txBox="1"/>
          <p:nvPr/>
        </p:nvSpPr>
        <p:spPr>
          <a:xfrm>
            <a:off x="918210" y="3163372"/>
            <a:ext cx="4808220" cy="3471720"/>
          </a:xfrm>
          <a:prstGeom prst="rect">
            <a:avLst/>
          </a:prstGeom>
          <a:noFill/>
        </p:spPr>
        <p:txBody>
          <a:bodyPr wrap="square" rtlCol="0">
            <a:spAutoFit/>
          </a:bodyPr>
          <a:lstStyle/>
          <a:p>
            <a:pPr algn="just">
              <a:lnSpc>
                <a:spcPct val="120000"/>
              </a:lnSpc>
            </a:pPr>
            <a:r>
              <a:rPr lang="vi-VN" sz="2400">
                <a:effectLst/>
                <a:latin typeface="Times New Roman" panose="02020603050405020304" pitchFamily="18" charset="0"/>
                <a:ea typeface="Times New Roman" panose="02020603050405020304" pitchFamily="18" charset="0"/>
              </a:rPr>
              <a:t>Đăng nhập bằng tài khoản ADMIN</a:t>
            </a:r>
            <a:endParaRPr lang="en-US" sz="2400">
              <a:effectLst/>
              <a:latin typeface="Times New Roman" panose="02020603050405020304" pitchFamily="18" charset="0"/>
              <a:ea typeface="Times New Roman" panose="02020603050405020304" pitchFamily="18" charset="0"/>
            </a:endParaRPr>
          </a:p>
          <a:p>
            <a:pPr algn="just">
              <a:lnSpc>
                <a:spcPct val="120000"/>
              </a:lnSpc>
            </a:pPr>
            <a:r>
              <a:rPr lang="vi-VN" sz="2400">
                <a:effectLst/>
                <a:latin typeface="Times New Roman" panose="02020603050405020304" pitchFamily="18" charset="0"/>
                <a:ea typeface="Times New Roman" panose="02020603050405020304" pitchFamily="18" charset="0"/>
              </a:rPr>
              <a:t>        Cung cấp các chức năng như: </a:t>
            </a:r>
            <a:endParaRPr lang="en-US" sz="2400">
              <a:effectLst/>
              <a:latin typeface="Times New Roman" panose="02020603050405020304" pitchFamily="18" charset="0"/>
              <a:ea typeface="Times New Roman" panose="02020603050405020304" pitchFamily="18" charset="0"/>
            </a:endParaRPr>
          </a:p>
          <a:p>
            <a:pPr indent="457200" algn="just">
              <a:lnSpc>
                <a:spcPct val="120000"/>
              </a:lnSpc>
            </a:pPr>
            <a:r>
              <a:rPr lang="vi-VN" sz="2400">
                <a:effectLst/>
                <a:latin typeface="Times New Roman" panose="02020603050405020304" pitchFamily="18" charset="0"/>
                <a:ea typeface="Times New Roman" panose="02020603050405020304" pitchFamily="18" charset="0"/>
              </a:rPr>
              <a:t>+Đăng kí tài khoản</a:t>
            </a:r>
            <a:endParaRPr lang="en-US" sz="2400">
              <a:effectLst/>
              <a:latin typeface="Times New Roman" panose="02020603050405020304" pitchFamily="18" charset="0"/>
              <a:ea typeface="Times New Roman" panose="02020603050405020304" pitchFamily="18" charset="0"/>
            </a:endParaRPr>
          </a:p>
          <a:p>
            <a:pPr indent="457200" algn="just">
              <a:lnSpc>
                <a:spcPct val="120000"/>
              </a:lnSpc>
            </a:pPr>
            <a:r>
              <a:rPr lang="vi-VN" sz="2400">
                <a:effectLst/>
                <a:latin typeface="Times New Roman" panose="02020603050405020304" pitchFamily="18" charset="0"/>
                <a:ea typeface="Times New Roman" panose="02020603050405020304" pitchFamily="18" charset="0"/>
              </a:rPr>
              <a:t>+Khóa tài khoản</a:t>
            </a:r>
            <a:endParaRPr lang="en-US" sz="2400">
              <a:effectLst/>
              <a:latin typeface="Times New Roman" panose="02020603050405020304" pitchFamily="18" charset="0"/>
              <a:ea typeface="Times New Roman" panose="02020603050405020304" pitchFamily="18" charset="0"/>
            </a:endParaRPr>
          </a:p>
          <a:p>
            <a:pPr indent="457200" algn="just">
              <a:lnSpc>
                <a:spcPct val="120000"/>
              </a:lnSpc>
            </a:pPr>
            <a:r>
              <a:rPr lang="vi-VN" sz="2400">
                <a:effectLst/>
                <a:latin typeface="Times New Roman" panose="02020603050405020304" pitchFamily="18" charset="0"/>
                <a:ea typeface="Times New Roman" panose="02020603050405020304" pitchFamily="18" charset="0"/>
              </a:rPr>
              <a:t>+Mở khóa tài khoản</a:t>
            </a:r>
            <a:endParaRPr lang="en-US" sz="2400">
              <a:effectLst/>
              <a:latin typeface="Times New Roman" panose="02020603050405020304" pitchFamily="18" charset="0"/>
              <a:ea typeface="Times New Roman" panose="02020603050405020304" pitchFamily="18" charset="0"/>
            </a:endParaRPr>
          </a:p>
          <a:p>
            <a:pPr indent="457200" algn="just">
              <a:lnSpc>
                <a:spcPct val="120000"/>
              </a:lnSpc>
            </a:pPr>
            <a:r>
              <a:rPr lang="vi-VN" sz="2400">
                <a:effectLst/>
                <a:latin typeface="Times New Roman" panose="02020603050405020304" pitchFamily="18" charset="0"/>
                <a:ea typeface="Times New Roman" panose="02020603050405020304" pitchFamily="18" charset="0"/>
              </a:rPr>
              <a:t>+Xóa tài khoản</a:t>
            </a:r>
            <a:endParaRPr lang="en-US" sz="2400">
              <a:effectLst/>
              <a:latin typeface="Times New Roman" panose="02020603050405020304" pitchFamily="18" charset="0"/>
              <a:ea typeface="Times New Roman" panose="02020603050405020304" pitchFamily="18" charset="0"/>
            </a:endParaRPr>
          </a:p>
          <a:p>
            <a:pPr indent="457200" algn="just">
              <a:lnSpc>
                <a:spcPct val="120000"/>
              </a:lnSpc>
            </a:pPr>
            <a:r>
              <a:rPr lang="vi-VN" sz="2400">
                <a:effectLst/>
                <a:latin typeface="Times New Roman" panose="02020603050405020304" pitchFamily="18" charset="0"/>
                <a:ea typeface="Times New Roman" panose="02020603050405020304" pitchFamily="18" charset="0"/>
              </a:rPr>
              <a:t>+Nạp tiền cho người dùng.</a:t>
            </a:r>
            <a:endParaRPr lang="en-US" sz="2400">
              <a:effectLst/>
              <a:latin typeface="Times New Roman" panose="02020603050405020304" pitchFamily="18" charset="0"/>
              <a:ea typeface="Times New Roman" panose="02020603050405020304" pitchFamily="18" charset="0"/>
            </a:endParaRPr>
          </a:p>
          <a:p>
            <a:endParaRPr lang="en-US"/>
          </a:p>
        </p:txBody>
      </p:sp>
      <p:pic>
        <p:nvPicPr>
          <p:cNvPr id="4" name="Picture 19">
            <a:extLst>
              <a:ext uri="{FF2B5EF4-FFF2-40B4-BE49-F238E27FC236}">
                <a16:creationId xmlns:a16="http://schemas.microsoft.com/office/drawing/2014/main" id="{318E4057-8407-9802-AE48-E8FED1359217}"/>
              </a:ext>
            </a:extLst>
          </p:cNvPr>
          <p:cNvPicPr>
            <a:picLocks noChangeAspect="1"/>
          </p:cNvPicPr>
          <p:nvPr/>
        </p:nvPicPr>
        <p:blipFill>
          <a:blip r:embed="rId3"/>
          <a:stretch>
            <a:fillRect/>
          </a:stretch>
        </p:blipFill>
        <p:spPr>
          <a:xfrm>
            <a:off x="6431280" y="3132686"/>
            <a:ext cx="4842510" cy="3146194"/>
          </a:xfrm>
          <a:prstGeom prst="rect">
            <a:avLst/>
          </a:prstGeom>
        </p:spPr>
      </p:pic>
    </p:spTree>
    <p:extLst>
      <p:ext uri="{BB962C8B-B14F-4D97-AF65-F5344CB8AC3E}">
        <p14:creationId xmlns:p14="http://schemas.microsoft.com/office/powerpoint/2010/main" val="2642420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056120"/>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40" y="333494"/>
            <a:ext cx="6217920"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1: TỔNG QUAN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621792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 MỤC TIÊU VÀ YÊU CẦU</a:t>
            </a:r>
          </a:p>
        </p:txBody>
      </p:sp>
      <p:sp>
        <p:nvSpPr>
          <p:cNvPr id="15" name="Hộp Văn bản 14">
            <a:extLst>
              <a:ext uri="{FF2B5EF4-FFF2-40B4-BE49-F238E27FC236}">
                <a16:creationId xmlns:a16="http://schemas.microsoft.com/office/drawing/2014/main" id="{85469EA0-E5D8-C861-D269-ECCF43BFE9A5}"/>
              </a:ext>
            </a:extLst>
          </p:cNvPr>
          <p:cNvSpPr txBox="1"/>
          <p:nvPr/>
        </p:nvSpPr>
        <p:spPr>
          <a:xfrm>
            <a:off x="670560" y="2564368"/>
            <a:ext cx="6217920" cy="46166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1.2 Yêu cầu  </a:t>
            </a:r>
          </a:p>
        </p:txBody>
      </p:sp>
      <p:sp>
        <p:nvSpPr>
          <p:cNvPr id="16" name="Hộp Văn bản 15">
            <a:extLst>
              <a:ext uri="{FF2B5EF4-FFF2-40B4-BE49-F238E27FC236}">
                <a16:creationId xmlns:a16="http://schemas.microsoft.com/office/drawing/2014/main" id="{95CC3337-7F37-3A01-FC84-19121878B991}"/>
              </a:ext>
            </a:extLst>
          </p:cNvPr>
          <p:cNvSpPr txBox="1"/>
          <p:nvPr/>
        </p:nvSpPr>
        <p:spPr>
          <a:xfrm>
            <a:off x="918210" y="3163372"/>
            <a:ext cx="5177790" cy="3914918"/>
          </a:xfrm>
          <a:prstGeom prst="rect">
            <a:avLst/>
          </a:prstGeom>
          <a:noFill/>
        </p:spPr>
        <p:txBody>
          <a:bodyPr wrap="square" rtlCol="0">
            <a:spAutoFit/>
          </a:bodyPr>
          <a:lstStyle/>
          <a:p>
            <a:pPr algn="just">
              <a:lnSpc>
                <a:spcPct val="120000"/>
              </a:lnSpc>
            </a:pPr>
            <a:r>
              <a:rPr lang="vi-VN" sz="2400" dirty="0">
                <a:effectLst/>
                <a:latin typeface="Times New Roman" panose="02020603050405020304" pitchFamily="18" charset="0"/>
                <a:ea typeface="Times New Roman" panose="02020603050405020304" pitchFamily="18" charset="0"/>
              </a:rPr>
              <a:t>Đăng nhập bằng tài khoản người </a:t>
            </a:r>
            <a:r>
              <a:rPr lang="en-US" sz="2400" dirty="0" err="1">
                <a:effectLst/>
                <a:latin typeface="Times New Roman" panose="02020603050405020304" pitchFamily="18" charset="0"/>
                <a:ea typeface="Times New Roman" panose="02020603050405020304" pitchFamily="18" charset="0"/>
              </a:rPr>
              <a:t>dùng</a:t>
            </a:r>
            <a:endParaRPr lang="en-US" sz="2400" dirty="0">
              <a:latin typeface="Times New Roman" panose="02020603050405020304" pitchFamily="18" charset="0"/>
              <a:ea typeface="Times New Roman" panose="02020603050405020304" pitchFamily="18" charset="0"/>
            </a:endParaRPr>
          </a:p>
          <a:p>
            <a:pPr algn="just">
              <a:lnSpc>
                <a:spcPct val="120000"/>
              </a:lnSpc>
            </a:pPr>
            <a:r>
              <a:rPr lang="en-US" sz="2400" dirty="0">
                <a:solidFill>
                  <a:srgbClr val="1F1F1F"/>
                </a:solidFill>
                <a:effectLst/>
                <a:latin typeface="Times New Roman" panose="02020603050405020304" pitchFamily="18" charset="0"/>
                <a:ea typeface="Times New Roman" panose="02020603050405020304" pitchFamily="18" charset="0"/>
              </a:rPr>
              <a:t>  </a:t>
            </a:r>
            <a:r>
              <a:rPr lang="vi-VN" sz="2400" dirty="0">
                <a:solidFill>
                  <a:srgbClr val="1F1F1F"/>
                </a:solidFill>
                <a:effectLst/>
                <a:latin typeface="Times New Roman" panose="02020603050405020304" pitchFamily="18" charset="0"/>
                <a:ea typeface="Times New Roman" panose="02020603050405020304" pitchFamily="18" charset="0"/>
              </a:rPr>
              <a:t>Cung cấp các chức năng như: </a:t>
            </a:r>
          </a:p>
          <a:p>
            <a:pPr algn="just">
              <a:lnSpc>
                <a:spcPct val="120000"/>
              </a:lnSpc>
            </a:pPr>
            <a:r>
              <a:rPr lang="vi-VN" sz="2400" dirty="0">
                <a:solidFill>
                  <a:srgbClr val="1F1F1F"/>
                </a:solidFill>
                <a:effectLst/>
                <a:latin typeface="Times New Roman" panose="02020603050405020304" pitchFamily="18" charset="0"/>
                <a:ea typeface="Times New Roman" panose="02020603050405020304" pitchFamily="18" charset="0"/>
              </a:rPr>
              <a:t>      + Tra cứu số dư tài khoản</a:t>
            </a:r>
          </a:p>
          <a:p>
            <a:pPr algn="just">
              <a:lnSpc>
                <a:spcPct val="120000"/>
              </a:lnSpc>
            </a:pPr>
            <a:r>
              <a:rPr lang="vi-VN" sz="2400" dirty="0">
                <a:solidFill>
                  <a:srgbClr val="1F1F1F"/>
                </a:solidFill>
                <a:latin typeface="Times New Roman" panose="02020603050405020304" pitchFamily="18" charset="0"/>
                <a:ea typeface="Times New Roman" panose="02020603050405020304" pitchFamily="18" charset="0"/>
              </a:rPr>
              <a:t>      +</a:t>
            </a:r>
            <a:r>
              <a:rPr lang="vi-VN" sz="2400" dirty="0">
                <a:solidFill>
                  <a:srgbClr val="1F1F1F"/>
                </a:solidFill>
                <a:effectLst/>
                <a:latin typeface="Times New Roman" panose="02020603050405020304" pitchFamily="18" charset="0"/>
                <a:ea typeface="Times New Roman" panose="02020603050405020304" pitchFamily="18" charset="0"/>
              </a:rPr>
              <a:t> Nạp tiền</a:t>
            </a:r>
            <a:endParaRPr lang="en-US" sz="2400" dirty="0">
              <a:effectLst/>
              <a:latin typeface="Times New Roman" panose="02020603050405020304" pitchFamily="18" charset="0"/>
              <a:ea typeface="Times New Roman" panose="02020603050405020304" pitchFamily="18" charset="0"/>
            </a:endParaRPr>
          </a:p>
          <a:p>
            <a:pPr indent="457200" algn="just">
              <a:lnSpc>
                <a:spcPct val="120000"/>
              </a:lnSpc>
            </a:pPr>
            <a:r>
              <a:rPr lang="vi-VN" sz="2400" dirty="0">
                <a:solidFill>
                  <a:srgbClr val="1F1F1F"/>
                </a:solidFill>
                <a:effectLst/>
                <a:latin typeface="Times New Roman" panose="02020603050405020304" pitchFamily="18" charset="0"/>
                <a:ea typeface="Times New Roman" panose="02020603050405020304" pitchFamily="18" charset="0"/>
              </a:rPr>
              <a:t>+ Rút tiền</a:t>
            </a:r>
            <a:endParaRPr lang="en-US" sz="2400" dirty="0">
              <a:effectLst/>
              <a:latin typeface="Times New Roman" panose="02020603050405020304" pitchFamily="18" charset="0"/>
              <a:ea typeface="Times New Roman" panose="02020603050405020304" pitchFamily="18" charset="0"/>
            </a:endParaRPr>
          </a:p>
          <a:p>
            <a:pPr indent="457200" algn="just">
              <a:lnSpc>
                <a:spcPct val="120000"/>
              </a:lnSpc>
            </a:pPr>
            <a:r>
              <a:rPr lang="vi-VN" sz="2400" dirty="0">
                <a:solidFill>
                  <a:srgbClr val="1F1F1F"/>
                </a:solidFill>
                <a:effectLst/>
                <a:latin typeface="Times New Roman" panose="02020603050405020304" pitchFamily="18" charset="0"/>
                <a:ea typeface="Times New Roman" panose="02020603050405020304" pitchFamily="18" charset="0"/>
              </a:rPr>
              <a:t>+ Chuyển khoản</a:t>
            </a:r>
            <a:endParaRPr lang="en-US" sz="2400" dirty="0">
              <a:effectLst/>
              <a:latin typeface="Times New Roman" panose="02020603050405020304" pitchFamily="18" charset="0"/>
              <a:ea typeface="Times New Roman" panose="02020603050405020304" pitchFamily="18" charset="0"/>
            </a:endParaRPr>
          </a:p>
          <a:p>
            <a:pPr indent="457200" algn="just">
              <a:lnSpc>
                <a:spcPct val="120000"/>
              </a:lnSpc>
            </a:pPr>
            <a:r>
              <a:rPr lang="vi-VN" sz="2400" dirty="0">
                <a:solidFill>
                  <a:srgbClr val="1F1F1F"/>
                </a:solidFill>
                <a:effectLst/>
                <a:latin typeface="Times New Roman" panose="02020603050405020304" pitchFamily="18" charset="0"/>
                <a:ea typeface="Times New Roman" panose="02020603050405020304" pitchFamily="18" charset="0"/>
              </a:rPr>
              <a:t>+ Lịch sử giao dịch.</a:t>
            </a:r>
            <a:endParaRPr lang="en-US" sz="2400" dirty="0">
              <a:effectLst/>
              <a:latin typeface="Times New Roman" panose="02020603050405020304" pitchFamily="18" charset="0"/>
              <a:ea typeface="Times New Roman" panose="02020603050405020304" pitchFamily="18" charset="0"/>
            </a:endParaRPr>
          </a:p>
          <a:p>
            <a:pPr indent="457200" algn="just">
              <a:lnSpc>
                <a:spcPct val="120000"/>
              </a:lnSpc>
            </a:pPr>
            <a:endParaRPr lang="en-US" sz="2400" dirty="0">
              <a:effectLst/>
              <a:latin typeface="Times New Roman" panose="02020603050405020304" pitchFamily="18" charset="0"/>
              <a:ea typeface="Times New Roman" panose="02020603050405020304" pitchFamily="18" charset="0"/>
            </a:endParaRPr>
          </a:p>
          <a:p>
            <a:endParaRPr lang="en-US" dirty="0"/>
          </a:p>
        </p:txBody>
      </p:sp>
      <p:pic>
        <p:nvPicPr>
          <p:cNvPr id="6" name="Hình ảnh 5" descr="Ảnh có chứa ảnh chụp màn hình, văn bản, phần mềm, Phần mềm đa phương tiện&#10;&#10;Mô tả được tạo tự động">
            <a:extLst>
              <a:ext uri="{FF2B5EF4-FFF2-40B4-BE49-F238E27FC236}">
                <a16:creationId xmlns:a16="http://schemas.microsoft.com/office/drawing/2014/main" id="{D0857DED-2781-4B92-9457-987E7D4B8456}"/>
              </a:ext>
            </a:extLst>
          </p:cNvPr>
          <p:cNvPicPr>
            <a:picLocks noChangeAspect="1"/>
          </p:cNvPicPr>
          <p:nvPr/>
        </p:nvPicPr>
        <p:blipFill rotWithShape="1">
          <a:blip r:embed="rId3">
            <a:extLst>
              <a:ext uri="{28A0092B-C50C-407E-A947-70E740481C1C}">
                <a14:useLocalDpi xmlns:a14="http://schemas.microsoft.com/office/drawing/2010/main" val="0"/>
              </a:ext>
            </a:extLst>
          </a:blip>
          <a:srcRect t="3876" r="78076" b="63307"/>
          <a:stretch/>
        </p:blipFill>
        <p:spPr>
          <a:xfrm>
            <a:off x="6888480" y="2727961"/>
            <a:ext cx="4221480" cy="3463932"/>
          </a:xfrm>
          <a:prstGeom prst="rect">
            <a:avLst/>
          </a:prstGeom>
        </p:spPr>
      </p:pic>
    </p:spTree>
    <p:extLst>
      <p:ext uri="{BB962C8B-B14F-4D97-AF65-F5344CB8AC3E}">
        <p14:creationId xmlns:p14="http://schemas.microsoft.com/office/powerpoint/2010/main" val="174979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191494"/>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40" y="333494"/>
            <a:ext cx="6217920"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1: TỔNG QUAN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621792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II. GIỚI HẠN </a:t>
            </a:r>
          </a:p>
        </p:txBody>
      </p:sp>
      <p:sp>
        <p:nvSpPr>
          <p:cNvPr id="15" name="Hộp Văn bản 14">
            <a:extLst>
              <a:ext uri="{FF2B5EF4-FFF2-40B4-BE49-F238E27FC236}">
                <a16:creationId xmlns:a16="http://schemas.microsoft.com/office/drawing/2014/main" id="{85469EA0-E5D8-C861-D269-ECCF43BFE9A5}"/>
              </a:ext>
            </a:extLst>
          </p:cNvPr>
          <p:cNvSpPr txBox="1"/>
          <p:nvPr/>
        </p:nvSpPr>
        <p:spPr>
          <a:xfrm>
            <a:off x="670560" y="2564368"/>
            <a:ext cx="6217920" cy="46166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2.1 Giới hạn về tính năng  </a:t>
            </a:r>
          </a:p>
        </p:txBody>
      </p:sp>
      <p:sp>
        <p:nvSpPr>
          <p:cNvPr id="16" name="Hộp Văn bản 15">
            <a:extLst>
              <a:ext uri="{FF2B5EF4-FFF2-40B4-BE49-F238E27FC236}">
                <a16:creationId xmlns:a16="http://schemas.microsoft.com/office/drawing/2014/main" id="{95CC3337-7F37-3A01-FC84-19121878B991}"/>
              </a:ext>
            </a:extLst>
          </p:cNvPr>
          <p:cNvSpPr txBox="1"/>
          <p:nvPr/>
        </p:nvSpPr>
        <p:spPr>
          <a:xfrm>
            <a:off x="918210" y="3163372"/>
            <a:ext cx="5177790" cy="2677656"/>
          </a:xfrm>
          <a:prstGeom prst="rect">
            <a:avLst/>
          </a:prstGeom>
          <a:noFill/>
        </p:spPr>
        <p:txBody>
          <a:bodyPr wrap="square" rtlCol="0">
            <a:spAutoFit/>
          </a:bodyPr>
          <a:lstStyle/>
          <a:p>
            <a:r>
              <a:rPr lang="vi-VN" sz="2400" kern="0" dirty="0">
                <a:solidFill>
                  <a:srgbClr val="1F1F1F"/>
                </a:solidFill>
                <a:effectLst/>
                <a:latin typeface="Times New Roman" panose="02020603050405020304" pitchFamily="18" charset="0"/>
                <a:ea typeface="Times New Roman" panose="02020603050405020304" pitchFamily="18" charset="0"/>
              </a:rPr>
              <a:t>Chức năng</a:t>
            </a:r>
            <a:r>
              <a:rPr lang="en-US" sz="2400" kern="0" dirty="0">
                <a:solidFill>
                  <a:srgbClr val="1F1F1F"/>
                </a:solidFill>
                <a:effectLst/>
                <a:latin typeface="Times New Roman" panose="02020603050405020304" pitchFamily="18" charset="0"/>
                <a:ea typeface="Times New Roman" panose="02020603050405020304" pitchFamily="18" charset="0"/>
              </a:rPr>
              <a:t> </a:t>
            </a:r>
            <a:r>
              <a:rPr lang="en-US" sz="2400" kern="0" dirty="0" err="1">
                <a:solidFill>
                  <a:srgbClr val="1F1F1F"/>
                </a:solidFill>
                <a:effectLst/>
                <a:latin typeface="Times New Roman" panose="02020603050405020304" pitchFamily="18" charset="0"/>
                <a:ea typeface="Times New Roman" panose="02020603050405020304" pitchFamily="18" charset="0"/>
              </a:rPr>
              <a:t>thì</a:t>
            </a:r>
            <a:r>
              <a:rPr lang="en-US" sz="2400" kern="0" dirty="0">
                <a:solidFill>
                  <a:srgbClr val="1F1F1F"/>
                </a:solidFill>
                <a:effectLst/>
                <a:latin typeface="Times New Roman" panose="02020603050405020304" pitchFamily="18" charset="0"/>
                <a:ea typeface="Times New Roman" panose="02020603050405020304" pitchFamily="18" charset="0"/>
              </a:rPr>
              <a:t> </a:t>
            </a:r>
            <a:r>
              <a:rPr lang="vi-VN" sz="2400" kern="0" dirty="0">
                <a:solidFill>
                  <a:srgbClr val="1F1F1F"/>
                </a:solidFill>
                <a:effectLst/>
                <a:latin typeface="Times New Roman" panose="02020603050405020304" pitchFamily="18" charset="0"/>
                <a:ea typeface="Times New Roman" panose="02020603050405020304" pitchFamily="18" charset="0"/>
              </a:rPr>
              <a:t>chỉ cung cấp các tính năng cơ bản như</a:t>
            </a:r>
            <a:r>
              <a:rPr lang="en-US" sz="2400" kern="0" dirty="0">
                <a:solidFill>
                  <a:srgbClr val="1F1F1F"/>
                </a:solidFill>
                <a:effectLst/>
                <a:latin typeface="Times New Roman" panose="02020603050405020304" pitchFamily="18" charset="0"/>
                <a:ea typeface="Times New Roman" panose="02020603050405020304" pitchFamily="18" charset="0"/>
              </a:rPr>
              <a:t>: </a:t>
            </a:r>
            <a:endParaRPr lang="en-US" sz="2400" kern="0" dirty="0">
              <a:solidFill>
                <a:srgbClr val="1F1F1F"/>
              </a:solidFill>
              <a:latin typeface="Times New Roman" panose="02020603050405020304" pitchFamily="18" charset="0"/>
              <a:ea typeface="Times New Roman" panose="02020603050405020304" pitchFamily="18" charset="0"/>
            </a:endParaRPr>
          </a:p>
          <a:p>
            <a:r>
              <a:rPr lang="vi-VN" sz="2400" kern="0" dirty="0">
                <a:solidFill>
                  <a:srgbClr val="1F1F1F"/>
                </a:solidFill>
                <a:effectLst/>
                <a:latin typeface="Times New Roman" panose="02020603050405020304" pitchFamily="18" charset="0"/>
                <a:ea typeface="Times New Roman" panose="02020603050405020304" pitchFamily="18" charset="0"/>
              </a:rPr>
              <a:t> </a:t>
            </a:r>
            <a:r>
              <a:rPr lang="en-US" sz="2400" kern="0" dirty="0">
                <a:solidFill>
                  <a:srgbClr val="1F1F1F"/>
                </a:solidFill>
                <a:latin typeface="Times New Roman" panose="02020603050405020304" pitchFamily="18" charset="0"/>
                <a:ea typeface="Times New Roman" panose="02020603050405020304" pitchFamily="18" charset="0"/>
              </a:rPr>
              <a:t>	+</a:t>
            </a:r>
            <a:r>
              <a:rPr lang="vi-VN" sz="2400" kern="0" dirty="0">
                <a:solidFill>
                  <a:srgbClr val="1F1F1F"/>
                </a:solidFill>
                <a:latin typeface="Times New Roman" panose="02020603050405020304" pitchFamily="18" charset="0"/>
                <a:ea typeface="Times New Roman" panose="02020603050405020304" pitchFamily="18" charset="0"/>
              </a:rPr>
              <a:t> R</a:t>
            </a:r>
            <a:r>
              <a:rPr lang="vi-VN" sz="2400" kern="0" dirty="0">
                <a:solidFill>
                  <a:srgbClr val="1F1F1F"/>
                </a:solidFill>
                <a:effectLst/>
                <a:latin typeface="Times New Roman" panose="02020603050405020304" pitchFamily="18" charset="0"/>
                <a:ea typeface="Times New Roman" panose="02020603050405020304" pitchFamily="18" charset="0"/>
              </a:rPr>
              <a:t>út tiền</a:t>
            </a:r>
            <a:endParaRPr lang="en-US" sz="2400" kern="0" dirty="0">
              <a:solidFill>
                <a:srgbClr val="1F1F1F"/>
              </a:solidFill>
              <a:effectLst/>
              <a:latin typeface="Times New Roman" panose="02020603050405020304" pitchFamily="18" charset="0"/>
              <a:ea typeface="Times New Roman" panose="02020603050405020304" pitchFamily="18" charset="0"/>
            </a:endParaRPr>
          </a:p>
          <a:p>
            <a:r>
              <a:rPr lang="en-US" sz="2400" kern="0" dirty="0">
                <a:solidFill>
                  <a:srgbClr val="1F1F1F"/>
                </a:solidFill>
                <a:latin typeface="Times New Roman" panose="02020603050405020304" pitchFamily="18" charset="0"/>
                <a:ea typeface="Times New Roman" panose="02020603050405020304" pitchFamily="18" charset="0"/>
              </a:rPr>
              <a:t>	+</a:t>
            </a:r>
            <a:r>
              <a:rPr lang="vi-VN" sz="2400" kern="0" dirty="0">
                <a:solidFill>
                  <a:srgbClr val="1F1F1F"/>
                </a:solidFill>
                <a:latin typeface="Times New Roman" panose="02020603050405020304" pitchFamily="18" charset="0"/>
                <a:ea typeface="Times New Roman" panose="02020603050405020304" pitchFamily="18" charset="0"/>
              </a:rPr>
              <a:t> C</a:t>
            </a:r>
            <a:r>
              <a:rPr lang="vi-VN" sz="2400" kern="0" dirty="0">
                <a:solidFill>
                  <a:srgbClr val="1F1F1F"/>
                </a:solidFill>
                <a:effectLst/>
                <a:latin typeface="Times New Roman" panose="02020603050405020304" pitchFamily="18" charset="0"/>
                <a:ea typeface="Times New Roman" panose="02020603050405020304" pitchFamily="18" charset="0"/>
              </a:rPr>
              <a:t>huyển tiền</a:t>
            </a:r>
            <a:endParaRPr lang="en-US" sz="2400" kern="0" dirty="0">
              <a:solidFill>
                <a:srgbClr val="1F1F1F"/>
              </a:solidFill>
              <a:effectLst/>
              <a:latin typeface="Times New Roman" panose="02020603050405020304" pitchFamily="18" charset="0"/>
              <a:ea typeface="Times New Roman" panose="02020603050405020304" pitchFamily="18" charset="0"/>
            </a:endParaRPr>
          </a:p>
          <a:p>
            <a:r>
              <a:rPr lang="en-US" sz="2400" kern="0" dirty="0">
                <a:solidFill>
                  <a:srgbClr val="1F1F1F"/>
                </a:solidFill>
                <a:latin typeface="Times New Roman" panose="02020603050405020304" pitchFamily="18" charset="0"/>
                <a:ea typeface="Times New Roman" panose="02020603050405020304" pitchFamily="18" charset="0"/>
              </a:rPr>
              <a:t>	+</a:t>
            </a:r>
            <a:r>
              <a:rPr lang="vi-VN" sz="2400" kern="0" dirty="0">
                <a:solidFill>
                  <a:srgbClr val="1F1F1F"/>
                </a:solidFill>
                <a:latin typeface="Times New Roman" panose="02020603050405020304" pitchFamily="18" charset="0"/>
                <a:ea typeface="Times New Roman" panose="02020603050405020304" pitchFamily="18" charset="0"/>
              </a:rPr>
              <a:t> T</a:t>
            </a:r>
            <a:r>
              <a:rPr lang="vi-VN" sz="2400" kern="0" dirty="0">
                <a:solidFill>
                  <a:srgbClr val="1F1F1F"/>
                </a:solidFill>
                <a:effectLst/>
                <a:latin typeface="Times New Roman" panose="02020603050405020304" pitchFamily="18" charset="0"/>
                <a:ea typeface="Times New Roman" panose="02020603050405020304" pitchFamily="18" charset="0"/>
              </a:rPr>
              <a:t>ra cứu số dư</a:t>
            </a:r>
            <a:endParaRPr lang="en-US" sz="2400" kern="0" dirty="0">
              <a:solidFill>
                <a:srgbClr val="1F1F1F"/>
              </a:solidFill>
              <a:effectLst/>
              <a:latin typeface="Times New Roman" panose="02020603050405020304" pitchFamily="18" charset="0"/>
              <a:ea typeface="Times New Roman" panose="02020603050405020304" pitchFamily="18" charset="0"/>
            </a:endParaRPr>
          </a:p>
          <a:p>
            <a:r>
              <a:rPr lang="en-US" sz="2400" kern="0" dirty="0">
                <a:solidFill>
                  <a:srgbClr val="1F1F1F"/>
                </a:solidFill>
                <a:latin typeface="Times New Roman" panose="02020603050405020304" pitchFamily="18" charset="0"/>
                <a:ea typeface="Times New Roman" panose="02020603050405020304" pitchFamily="18" charset="0"/>
              </a:rPr>
              <a:t>	+</a:t>
            </a:r>
            <a:r>
              <a:rPr lang="vi-VN" sz="2400" kern="0" dirty="0">
                <a:solidFill>
                  <a:srgbClr val="1F1F1F"/>
                </a:solidFill>
                <a:latin typeface="Times New Roman" panose="02020603050405020304" pitchFamily="18" charset="0"/>
                <a:ea typeface="Times New Roman" panose="02020603050405020304" pitchFamily="18" charset="0"/>
              </a:rPr>
              <a:t> N</a:t>
            </a:r>
            <a:r>
              <a:rPr lang="vi-VN" sz="2400" kern="0" dirty="0">
                <a:solidFill>
                  <a:srgbClr val="1F1F1F"/>
                </a:solidFill>
                <a:effectLst/>
                <a:latin typeface="Times New Roman" panose="02020603050405020304" pitchFamily="18" charset="0"/>
                <a:ea typeface="Times New Roman" panose="02020603050405020304" pitchFamily="18" charset="0"/>
              </a:rPr>
              <a:t>ạp tiền</a:t>
            </a:r>
            <a:endParaRPr lang="en-US" sz="2400" kern="0" dirty="0">
              <a:solidFill>
                <a:srgbClr val="1F1F1F"/>
              </a:solidFill>
              <a:effectLst/>
              <a:latin typeface="Times New Roman" panose="02020603050405020304" pitchFamily="18" charset="0"/>
              <a:ea typeface="Times New Roman" panose="02020603050405020304" pitchFamily="18" charset="0"/>
            </a:endParaRPr>
          </a:p>
          <a:p>
            <a:r>
              <a:rPr lang="en-US" sz="2400" kern="0" dirty="0">
                <a:solidFill>
                  <a:srgbClr val="1F1F1F"/>
                </a:solidFill>
                <a:latin typeface="Times New Roman" panose="02020603050405020304" pitchFamily="18" charset="0"/>
              </a:rPr>
              <a:t>	+ </a:t>
            </a:r>
            <a:r>
              <a:rPr lang="en-US" sz="2400" kern="0" dirty="0" err="1">
                <a:solidFill>
                  <a:srgbClr val="1F1F1F"/>
                </a:solidFill>
                <a:latin typeface="Times New Roman" panose="02020603050405020304" pitchFamily="18" charset="0"/>
              </a:rPr>
              <a:t>Lịch</a:t>
            </a:r>
            <a:r>
              <a:rPr lang="en-US" sz="2400" kern="0" dirty="0">
                <a:solidFill>
                  <a:srgbClr val="1F1F1F"/>
                </a:solidFill>
                <a:latin typeface="Times New Roman" panose="02020603050405020304" pitchFamily="18" charset="0"/>
              </a:rPr>
              <a:t> </a:t>
            </a:r>
            <a:r>
              <a:rPr lang="en-US" sz="2400" kern="0" dirty="0" err="1">
                <a:solidFill>
                  <a:srgbClr val="1F1F1F"/>
                </a:solidFill>
                <a:latin typeface="Times New Roman" panose="02020603050405020304" pitchFamily="18" charset="0"/>
              </a:rPr>
              <a:t>sử</a:t>
            </a:r>
            <a:r>
              <a:rPr lang="en-US" sz="2400" kern="0" dirty="0">
                <a:solidFill>
                  <a:srgbClr val="1F1F1F"/>
                </a:solidFill>
                <a:latin typeface="Times New Roman" panose="02020603050405020304" pitchFamily="18" charset="0"/>
              </a:rPr>
              <a:t> </a:t>
            </a:r>
            <a:r>
              <a:rPr lang="en-US" sz="2400" kern="0" dirty="0" err="1">
                <a:solidFill>
                  <a:srgbClr val="1F1F1F"/>
                </a:solidFill>
                <a:latin typeface="Times New Roman" panose="02020603050405020304" pitchFamily="18" charset="0"/>
              </a:rPr>
              <a:t>giao</a:t>
            </a:r>
            <a:r>
              <a:rPr lang="en-US" sz="2400" kern="0" dirty="0">
                <a:solidFill>
                  <a:srgbClr val="1F1F1F"/>
                </a:solidFill>
                <a:latin typeface="Times New Roman" panose="02020603050405020304" pitchFamily="18" charset="0"/>
              </a:rPr>
              <a:t> </a:t>
            </a:r>
            <a:r>
              <a:rPr lang="en-US" sz="2400" kern="0" dirty="0" err="1">
                <a:solidFill>
                  <a:srgbClr val="1F1F1F"/>
                </a:solidFill>
                <a:latin typeface="Times New Roman" panose="02020603050405020304" pitchFamily="18" charset="0"/>
              </a:rPr>
              <a:t>dịch</a:t>
            </a:r>
            <a:r>
              <a:rPr lang="en-US" sz="2400" kern="0" dirty="0">
                <a:solidFill>
                  <a:srgbClr val="1F1F1F"/>
                </a:solidFill>
                <a:latin typeface="Times New Roman" panose="02020603050405020304" pitchFamily="18" charset="0"/>
              </a:rPr>
              <a:t>.</a:t>
            </a:r>
            <a:endParaRPr lang="en-US" sz="2400" dirty="0"/>
          </a:p>
        </p:txBody>
      </p:sp>
      <p:pic>
        <p:nvPicPr>
          <p:cNvPr id="6" name="Hình ảnh 5" descr="Ảnh có chứa ảnh chụp màn hình, văn bản, phần mềm, Phần mềm đa phương tiện&#10;&#10;Mô tả được tạo tự động">
            <a:extLst>
              <a:ext uri="{FF2B5EF4-FFF2-40B4-BE49-F238E27FC236}">
                <a16:creationId xmlns:a16="http://schemas.microsoft.com/office/drawing/2014/main" id="{D0857DED-2781-4B92-9457-987E7D4B8456}"/>
              </a:ext>
            </a:extLst>
          </p:cNvPr>
          <p:cNvPicPr>
            <a:picLocks noChangeAspect="1"/>
          </p:cNvPicPr>
          <p:nvPr/>
        </p:nvPicPr>
        <p:blipFill rotWithShape="1">
          <a:blip r:embed="rId3">
            <a:extLst>
              <a:ext uri="{28A0092B-C50C-407E-A947-70E740481C1C}">
                <a14:useLocalDpi xmlns:a14="http://schemas.microsoft.com/office/drawing/2010/main" val="0"/>
              </a:ext>
            </a:extLst>
          </a:blip>
          <a:srcRect t="3876" r="78076" b="63307"/>
          <a:stretch/>
        </p:blipFill>
        <p:spPr>
          <a:xfrm>
            <a:off x="6888480" y="2727961"/>
            <a:ext cx="4221480" cy="3463932"/>
          </a:xfrm>
          <a:prstGeom prst="rect">
            <a:avLst/>
          </a:prstGeom>
        </p:spPr>
      </p:pic>
    </p:spTree>
    <p:extLst>
      <p:ext uri="{BB962C8B-B14F-4D97-AF65-F5344CB8AC3E}">
        <p14:creationId xmlns:p14="http://schemas.microsoft.com/office/powerpoint/2010/main" val="3925390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056120"/>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40" y="333494"/>
            <a:ext cx="6217920"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1: TỔNG QUAN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621792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II. GIỚI HẠN </a:t>
            </a:r>
          </a:p>
        </p:txBody>
      </p:sp>
      <p:sp>
        <p:nvSpPr>
          <p:cNvPr id="15" name="Hộp Văn bản 14">
            <a:extLst>
              <a:ext uri="{FF2B5EF4-FFF2-40B4-BE49-F238E27FC236}">
                <a16:creationId xmlns:a16="http://schemas.microsoft.com/office/drawing/2014/main" id="{85469EA0-E5D8-C861-D269-ECCF43BFE9A5}"/>
              </a:ext>
            </a:extLst>
          </p:cNvPr>
          <p:cNvSpPr txBox="1"/>
          <p:nvPr/>
        </p:nvSpPr>
        <p:spPr>
          <a:xfrm>
            <a:off x="670560" y="2564368"/>
            <a:ext cx="6217920" cy="46166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2.1 Giới hạn về tính năng  </a:t>
            </a:r>
          </a:p>
        </p:txBody>
      </p:sp>
      <p:sp>
        <p:nvSpPr>
          <p:cNvPr id="16" name="Hộp Văn bản 15">
            <a:extLst>
              <a:ext uri="{FF2B5EF4-FFF2-40B4-BE49-F238E27FC236}">
                <a16:creationId xmlns:a16="http://schemas.microsoft.com/office/drawing/2014/main" id="{95CC3337-7F37-3A01-FC84-19121878B991}"/>
              </a:ext>
            </a:extLst>
          </p:cNvPr>
          <p:cNvSpPr txBox="1"/>
          <p:nvPr/>
        </p:nvSpPr>
        <p:spPr>
          <a:xfrm>
            <a:off x="946785" y="3270849"/>
            <a:ext cx="5177790" cy="2308324"/>
          </a:xfrm>
          <a:prstGeom prst="rect">
            <a:avLst/>
          </a:prstGeom>
          <a:noFill/>
        </p:spPr>
        <p:txBody>
          <a:bodyPr wrap="square" rtlCol="0">
            <a:spAutoFit/>
          </a:bodyPr>
          <a:lstStyle/>
          <a:p>
            <a:r>
              <a:rPr lang="vi-VN" sz="2400" dirty="0">
                <a:solidFill>
                  <a:srgbClr val="1F1F1F"/>
                </a:solidFill>
                <a:effectLst/>
                <a:latin typeface="Times New Roman" panose="02020603050405020304" pitchFamily="18" charset="0"/>
                <a:ea typeface="Times New Roman" panose="02020603050405020304" pitchFamily="18" charset="0"/>
              </a:rPr>
              <a:t>Không có thiết bị đọc thẻ nên không thể dùng thẻ ngân hang để rút tiền mà phải nhập số tài khoản.</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Chương</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trình</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chỉ</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sử</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dụng</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được</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giao</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diện</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dòng</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lệnh</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không</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có</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giao</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diện</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đồ</a:t>
            </a:r>
            <a:r>
              <a:rPr lang="en-US" sz="2400" dirty="0">
                <a:solidFill>
                  <a:srgbClr val="1F1F1F"/>
                </a:solidFill>
                <a:effectLst/>
                <a:latin typeface="Times New Roman" panose="02020603050405020304" pitchFamily="18" charset="0"/>
                <a:ea typeface="Times New Roman" panose="02020603050405020304" pitchFamily="18" charset="0"/>
              </a:rPr>
              <a:t> </a:t>
            </a:r>
            <a:r>
              <a:rPr lang="en-US" sz="2400" dirty="0" err="1">
                <a:solidFill>
                  <a:srgbClr val="1F1F1F"/>
                </a:solidFill>
                <a:effectLst/>
                <a:latin typeface="Times New Roman" panose="02020603050405020304" pitchFamily="18" charset="0"/>
                <a:ea typeface="Times New Roman" panose="02020603050405020304" pitchFamily="18" charset="0"/>
              </a:rPr>
              <a:t>họa</a:t>
            </a:r>
            <a:r>
              <a:rPr lang="en-US" sz="2400" dirty="0">
                <a:solidFill>
                  <a:srgbClr val="1F1F1F"/>
                </a:solidFill>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endParaRPr lang="en-US" sz="2400" dirty="0"/>
          </a:p>
        </p:txBody>
      </p:sp>
      <p:pic>
        <p:nvPicPr>
          <p:cNvPr id="3" name="Hình ảnh 2" descr="Ảnh có chứa văn bản, trong nhà, máy rút tiền, văn phòng phẩm&#10;&#10;Mô tả được tạo tự động">
            <a:extLst>
              <a:ext uri="{FF2B5EF4-FFF2-40B4-BE49-F238E27FC236}">
                <a16:creationId xmlns:a16="http://schemas.microsoft.com/office/drawing/2014/main" id="{32A73901-0834-707B-0BFF-B6E9AD66FF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8065" y="2815383"/>
            <a:ext cx="4143375" cy="3334821"/>
          </a:xfrm>
          <a:prstGeom prst="rect">
            <a:avLst/>
          </a:prstGeom>
        </p:spPr>
      </p:pic>
      <p:pic>
        <p:nvPicPr>
          <p:cNvPr id="8" name="Hình ảnh 7" descr="Ảnh có chứa ảnh chụp màn hình, văn bản, phần mềm, Phần mềm đa phương tiện&#10;&#10;Mô tả được tạo tự động">
            <a:extLst>
              <a:ext uri="{FF2B5EF4-FFF2-40B4-BE49-F238E27FC236}">
                <a16:creationId xmlns:a16="http://schemas.microsoft.com/office/drawing/2014/main" id="{8A071DBC-DE85-2C58-C144-A093D63EDC5F}"/>
              </a:ext>
            </a:extLst>
          </p:cNvPr>
          <p:cNvPicPr>
            <a:picLocks noChangeAspect="1"/>
          </p:cNvPicPr>
          <p:nvPr/>
        </p:nvPicPr>
        <p:blipFill rotWithShape="1">
          <a:blip r:embed="rId4">
            <a:extLst>
              <a:ext uri="{28A0092B-C50C-407E-A947-70E740481C1C}">
                <a14:useLocalDpi xmlns:a14="http://schemas.microsoft.com/office/drawing/2010/main" val="0"/>
              </a:ext>
            </a:extLst>
          </a:blip>
          <a:srcRect t="4863" r="82625" b="75140"/>
          <a:stretch/>
        </p:blipFill>
        <p:spPr>
          <a:xfrm>
            <a:off x="6737247" y="2743244"/>
            <a:ext cx="5135880" cy="3387768"/>
          </a:xfrm>
          <a:prstGeom prst="rect">
            <a:avLst/>
          </a:prstGeom>
        </p:spPr>
      </p:pic>
    </p:spTree>
    <p:extLst>
      <p:ext uri="{BB962C8B-B14F-4D97-AF65-F5344CB8AC3E}">
        <p14:creationId xmlns:p14="http://schemas.microsoft.com/office/powerpoint/2010/main" val="3402916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out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161514"/>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40" y="333494"/>
            <a:ext cx="6217920"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1: TỔNG QUAN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621792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II. GIỚI HẠN </a:t>
            </a:r>
          </a:p>
        </p:txBody>
      </p:sp>
      <p:sp>
        <p:nvSpPr>
          <p:cNvPr id="15" name="Hộp Văn bản 14">
            <a:extLst>
              <a:ext uri="{FF2B5EF4-FFF2-40B4-BE49-F238E27FC236}">
                <a16:creationId xmlns:a16="http://schemas.microsoft.com/office/drawing/2014/main" id="{85469EA0-E5D8-C861-D269-ECCF43BFE9A5}"/>
              </a:ext>
            </a:extLst>
          </p:cNvPr>
          <p:cNvSpPr txBox="1"/>
          <p:nvPr/>
        </p:nvSpPr>
        <p:spPr>
          <a:xfrm>
            <a:off x="670560" y="2564368"/>
            <a:ext cx="621792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2.2 </a:t>
            </a:r>
            <a:r>
              <a:rPr lang="en-US" sz="2400" b="1" dirty="0" err="1">
                <a:latin typeface="Times New Roman" panose="02020603050405020304" pitchFamily="18" charset="0"/>
                <a:cs typeface="Times New Roman" panose="02020603050405020304" pitchFamily="18" charset="0"/>
              </a:rPr>
              <a:t>Giới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hạn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ngôn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ngữ</a:t>
            </a:r>
            <a:r>
              <a:rPr lang="en-US" sz="2400" b="1" dirty="0">
                <a:latin typeface="Times New Roman" panose="02020603050405020304" pitchFamily="18" charset="0"/>
                <a:cs typeface="Times New Roman" panose="02020603050405020304" pitchFamily="18" charset="0"/>
              </a:rPr>
              <a:t> </a:t>
            </a:r>
          </a:p>
        </p:txBody>
      </p:sp>
      <p:sp>
        <p:nvSpPr>
          <p:cNvPr id="16" name="Hộp Văn bản 15">
            <a:extLst>
              <a:ext uri="{FF2B5EF4-FFF2-40B4-BE49-F238E27FC236}">
                <a16:creationId xmlns:a16="http://schemas.microsoft.com/office/drawing/2014/main" id="{95CC3337-7F37-3A01-FC84-19121878B991}"/>
              </a:ext>
            </a:extLst>
          </p:cNvPr>
          <p:cNvSpPr txBox="1"/>
          <p:nvPr/>
        </p:nvSpPr>
        <p:spPr>
          <a:xfrm>
            <a:off x="946785" y="3270849"/>
            <a:ext cx="5177790" cy="461665"/>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rPr>
              <a:t>Chỉ hỗ trợ ngôn ngữ là Tiếng Việt. </a:t>
            </a:r>
          </a:p>
        </p:txBody>
      </p:sp>
      <p:pic>
        <p:nvPicPr>
          <p:cNvPr id="6" name="Hình ảnh 5" descr="Ảnh có chứa hình mẫu, trái cây, quả táo, phim hoạt hình&#10;&#10;Mô tả được tạo tự động">
            <a:extLst>
              <a:ext uri="{FF2B5EF4-FFF2-40B4-BE49-F238E27FC236}">
                <a16:creationId xmlns:a16="http://schemas.microsoft.com/office/drawing/2014/main" id="{5019134B-C3C9-461C-DEEF-5321A9A785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6065" y="2682240"/>
            <a:ext cx="5177790" cy="3334463"/>
          </a:xfrm>
          <a:prstGeom prst="rect">
            <a:avLst/>
          </a:prstGeom>
        </p:spPr>
      </p:pic>
    </p:spTree>
    <p:extLst>
      <p:ext uri="{BB962C8B-B14F-4D97-AF65-F5344CB8AC3E}">
        <p14:creationId xmlns:p14="http://schemas.microsoft.com/office/powerpoint/2010/main" val="2641116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056120"/>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40" y="333494"/>
            <a:ext cx="6217920"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1: TỔNG QUAN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621792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III. HƯỚNG GIẢI QUYẾT </a:t>
            </a:r>
          </a:p>
        </p:txBody>
      </p:sp>
      <p:sp>
        <p:nvSpPr>
          <p:cNvPr id="2" name="Hộp Văn bản 1">
            <a:extLst>
              <a:ext uri="{FF2B5EF4-FFF2-40B4-BE49-F238E27FC236}">
                <a16:creationId xmlns:a16="http://schemas.microsoft.com/office/drawing/2014/main" id="{09223EC6-9A9D-854D-65A7-00951E202138}"/>
              </a:ext>
            </a:extLst>
          </p:cNvPr>
          <p:cNvSpPr txBox="1"/>
          <p:nvPr/>
        </p:nvSpPr>
        <p:spPr>
          <a:xfrm>
            <a:off x="1005840" y="2627738"/>
            <a:ext cx="9612999" cy="1938992"/>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ngôn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C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a:t>
            </a:r>
          </a:p>
          <a:p>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trúc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lưu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a:t>
            </a:r>
          </a:p>
          <a:p>
            <a:r>
              <a:rPr lang="vi-VN" sz="2400" spc="15" dirty="0">
                <a:effectLst/>
                <a:latin typeface="Times New Roman" panose="02020603050405020304" pitchFamily="18" charset="0"/>
                <a:ea typeface="Times New Roman" panose="02020603050405020304" pitchFamily="18" charset="0"/>
              </a:rPr>
              <a:t>Sử dụng các chương trình con để thực hiện các chức năng như </a:t>
            </a:r>
            <a:r>
              <a:rPr lang="vi-VN" sz="2400" spc="15">
                <a:effectLst/>
                <a:latin typeface="Times New Roman" panose="02020603050405020304" pitchFamily="18" charset="0"/>
                <a:ea typeface="Times New Roman" panose="02020603050405020304" pitchFamily="18" charset="0"/>
              </a:rPr>
              <a:t>đăng nhập</a:t>
            </a:r>
            <a:r>
              <a:rPr lang="en-US" sz="2400" spc="15">
                <a:latin typeface="Times New Roman" panose="02020603050405020304" pitchFamily="18" charset="0"/>
                <a:ea typeface="Times New Roman" panose="02020603050405020304" pitchFamily="18" charset="0"/>
              </a:rPr>
              <a:t>,</a:t>
            </a:r>
            <a:r>
              <a:rPr lang="vi-VN" sz="2400" spc="15">
                <a:effectLst/>
                <a:latin typeface="Times New Roman" panose="02020603050405020304" pitchFamily="18" charset="0"/>
                <a:ea typeface="Times New Roman" panose="02020603050405020304" pitchFamily="18" charset="0"/>
              </a:rPr>
              <a:t> </a:t>
            </a:r>
            <a:r>
              <a:rPr lang="vi-VN" sz="2400" spc="15" dirty="0">
                <a:effectLst/>
                <a:latin typeface="Times New Roman" panose="02020603050405020304" pitchFamily="18" charset="0"/>
                <a:ea typeface="Times New Roman" panose="02020603050405020304" pitchFamily="18" charset="0"/>
              </a:rPr>
              <a:t>kiểm tra số dư, nạp tiền, rút tiền, chuyển tiền và xem lịch sử giao dịch</a:t>
            </a:r>
            <a:r>
              <a:rPr lang="en-US" sz="2400" spc="15" dirty="0">
                <a:effectLst/>
                <a:latin typeface="Times New Roman" panose="02020603050405020304" pitchFamily="18" charset="0"/>
                <a:ea typeface="Times New Roman" panose="02020603050405020304" pitchFamily="18" charset="0"/>
              </a:rPr>
              <a:t>.</a:t>
            </a:r>
            <a:endParaRPr lang="vi-VN" sz="2400" dirty="0">
              <a:effectLst/>
              <a:latin typeface="Times New Roman" panose="02020603050405020304" pitchFamily="18" charset="0"/>
              <a:ea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98461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056120"/>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40" y="333494"/>
            <a:ext cx="6217920"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2: NỘI DUNG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1011936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 II. GIẢI THUẬT VÀ CHƯƠNG TRÌNH CHI TIẾT</a:t>
            </a:r>
          </a:p>
        </p:txBody>
      </p:sp>
    </p:spTree>
    <p:extLst>
      <p:ext uri="{BB962C8B-B14F-4D97-AF65-F5344CB8AC3E}">
        <p14:creationId xmlns:p14="http://schemas.microsoft.com/office/powerpoint/2010/main" val="1303466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056120"/>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727960" y="0"/>
            <a:ext cx="9204960" cy="1323439"/>
          </a:xfrm>
          <a:prstGeom prst="rect">
            <a:avLst/>
          </a:prstGeom>
          <a:noFill/>
        </p:spPr>
        <p:txBody>
          <a:bodyPr wrap="square">
            <a:spAutoFit/>
          </a:bodyPr>
          <a:lstStyle/>
          <a:p>
            <a:pPr algn="ctr"/>
            <a:r>
              <a:rPr lang="en-US" sz="4000" b="1">
                <a:latin typeface="Times New Roman" panose="02020603050405020304" pitchFamily="18" charset="0"/>
                <a:cs typeface="Times New Roman" panose="02020603050405020304" pitchFamily="18" charset="0"/>
              </a:rPr>
              <a:t>Chương 3: KẾT QUẢ VÀ HƯỚNG DẪN SỬ DỤNG </a:t>
            </a:r>
          </a:p>
        </p:txBody>
      </p:sp>
      <p:sp>
        <p:nvSpPr>
          <p:cNvPr id="13" name="Hộp Văn bản 12">
            <a:extLst>
              <a:ext uri="{FF2B5EF4-FFF2-40B4-BE49-F238E27FC236}">
                <a16:creationId xmlns:a16="http://schemas.microsoft.com/office/drawing/2014/main" id="{B234CBA3-D824-F82C-38C1-075FE66CB3B2}"/>
              </a:ext>
            </a:extLst>
          </p:cNvPr>
          <p:cNvSpPr txBox="1"/>
          <p:nvPr/>
        </p:nvSpPr>
        <p:spPr>
          <a:xfrm>
            <a:off x="213360" y="1842254"/>
            <a:ext cx="1011936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 KẾT QUẢ </a:t>
            </a:r>
          </a:p>
        </p:txBody>
      </p:sp>
      <p:sp>
        <p:nvSpPr>
          <p:cNvPr id="2" name="Hộp Văn bản 1">
            <a:extLst>
              <a:ext uri="{FF2B5EF4-FFF2-40B4-BE49-F238E27FC236}">
                <a16:creationId xmlns:a16="http://schemas.microsoft.com/office/drawing/2014/main" id="{F5A914C9-841A-3305-ACA3-49C0E6FD368D}"/>
              </a:ext>
            </a:extLst>
          </p:cNvPr>
          <p:cNvSpPr txBox="1"/>
          <p:nvPr/>
        </p:nvSpPr>
        <p:spPr>
          <a:xfrm>
            <a:off x="685800" y="2424886"/>
            <a:ext cx="3749040" cy="1938992"/>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máy</a:t>
            </a:r>
            <a:r>
              <a:rPr lang="en-US" sz="2400" dirty="0">
                <a:latin typeface="Times New Roman" panose="02020603050405020304" pitchFamily="18" charset="0"/>
                <a:cs typeface="Times New Roman" panose="02020603050405020304" pitchFamily="18" charset="0"/>
              </a:rPr>
              <a:t> ATM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dùng.</a:t>
            </a:r>
            <a:endParaRPr lang="en-US" sz="2400" dirty="0">
              <a:latin typeface="Times New Roman" panose="02020603050405020304" pitchFamily="18" charset="0"/>
              <a:cs typeface="Times New Roman" panose="02020603050405020304" pitchFamily="18" charset="0"/>
            </a:endParaRPr>
          </a:p>
        </p:txBody>
      </p:sp>
      <p:pic>
        <p:nvPicPr>
          <p:cNvPr id="4" name="Picture 19">
            <a:extLst>
              <a:ext uri="{FF2B5EF4-FFF2-40B4-BE49-F238E27FC236}">
                <a16:creationId xmlns:a16="http://schemas.microsoft.com/office/drawing/2014/main" id="{491772D0-1D77-73CD-675C-BDFF6BD8418D}"/>
              </a:ext>
            </a:extLst>
          </p:cNvPr>
          <p:cNvPicPr>
            <a:picLocks noChangeAspect="1"/>
          </p:cNvPicPr>
          <p:nvPr/>
        </p:nvPicPr>
        <p:blipFill>
          <a:blip r:embed="rId3"/>
          <a:stretch>
            <a:fillRect/>
          </a:stretch>
        </p:blipFill>
        <p:spPr>
          <a:xfrm>
            <a:off x="847965" y="4508602"/>
            <a:ext cx="3586876" cy="2402794"/>
          </a:xfrm>
          <a:prstGeom prst="rect">
            <a:avLst/>
          </a:prstGeom>
        </p:spPr>
      </p:pic>
      <p:pic>
        <p:nvPicPr>
          <p:cNvPr id="7" name="Picture 15">
            <a:extLst>
              <a:ext uri="{FF2B5EF4-FFF2-40B4-BE49-F238E27FC236}">
                <a16:creationId xmlns:a16="http://schemas.microsoft.com/office/drawing/2014/main" id="{126703EA-E377-D8A7-918B-7E48363F4ED1}"/>
              </a:ext>
            </a:extLst>
          </p:cNvPr>
          <p:cNvPicPr>
            <a:picLocks noChangeAspect="1"/>
          </p:cNvPicPr>
          <p:nvPr/>
        </p:nvPicPr>
        <p:blipFill>
          <a:blip r:embed="rId4"/>
          <a:stretch>
            <a:fillRect/>
          </a:stretch>
        </p:blipFill>
        <p:spPr>
          <a:xfrm>
            <a:off x="6929317" y="1969427"/>
            <a:ext cx="3749040" cy="2402794"/>
          </a:xfrm>
          <a:prstGeom prst="rect">
            <a:avLst/>
          </a:prstGeom>
        </p:spPr>
      </p:pic>
      <p:sp>
        <p:nvSpPr>
          <p:cNvPr id="14" name="Hộp Văn bản 13">
            <a:extLst>
              <a:ext uri="{FF2B5EF4-FFF2-40B4-BE49-F238E27FC236}">
                <a16:creationId xmlns:a16="http://schemas.microsoft.com/office/drawing/2014/main" id="{D9F647F8-3D31-FB28-7FFC-11F43686DBD7}"/>
              </a:ext>
            </a:extLst>
          </p:cNvPr>
          <p:cNvSpPr txBox="1"/>
          <p:nvPr/>
        </p:nvSpPr>
        <p:spPr>
          <a:xfrm>
            <a:off x="5844539" y="4372221"/>
            <a:ext cx="6217920" cy="584775"/>
          </a:xfrm>
          <a:prstGeom prst="rect">
            <a:avLst/>
          </a:prstGeom>
          <a:noFill/>
        </p:spPr>
        <p:txBody>
          <a:bodyPr wrap="square">
            <a:spAutoFit/>
          </a:bodyPr>
          <a:lstStyle/>
          <a:p>
            <a:r>
              <a:rPr lang="en-US" sz="3200" b="1">
                <a:latin typeface="Times New Roman" panose="02020603050405020304" pitchFamily="18" charset="0"/>
                <a:cs typeface="Times New Roman" panose="02020603050405020304" pitchFamily="18" charset="0"/>
              </a:rPr>
              <a:t>II. HƯỚNG DẪN SỬ DỤNG </a:t>
            </a:r>
          </a:p>
        </p:txBody>
      </p:sp>
      <p:sp>
        <p:nvSpPr>
          <p:cNvPr id="15" name="Hộp Văn bản 14">
            <a:extLst>
              <a:ext uri="{FF2B5EF4-FFF2-40B4-BE49-F238E27FC236}">
                <a16:creationId xmlns:a16="http://schemas.microsoft.com/office/drawing/2014/main" id="{16DDF728-6290-FF98-BDB6-E262400BCF18}"/>
              </a:ext>
            </a:extLst>
          </p:cNvPr>
          <p:cNvSpPr txBox="1"/>
          <p:nvPr/>
        </p:nvSpPr>
        <p:spPr>
          <a:xfrm>
            <a:off x="6328411" y="4919008"/>
            <a:ext cx="5928360" cy="1569660"/>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Đăng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ADMIN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tài</a:t>
            </a:r>
            <a:r>
              <a:rPr lang="en-US" sz="2400">
                <a:latin typeface="Times New Roman" panose="02020603050405020304" pitchFamily="18" charset="0"/>
                <a:cs typeface="Times New Roman" panose="02020603050405020304" pitchFamily="18" charset="0"/>
              </a:rPr>
              <a:t> khoản </a:t>
            </a: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người</a:t>
            </a:r>
            <a:r>
              <a:rPr lang="en-US" sz="2400">
                <a:latin typeface="Times New Roman" panose="02020603050405020304" pitchFamily="18" charset="0"/>
                <a:cs typeface="Times New Roman" panose="02020603050405020304" pitchFamily="18" charset="0"/>
              </a:rPr>
              <a:t> dùng </a:t>
            </a: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tài</a:t>
            </a:r>
            <a:r>
              <a:rPr lang="en-US" sz="2400">
                <a:latin typeface="Times New Roman" panose="02020603050405020304" pitchFamily="18" charset="0"/>
                <a:cs typeface="Times New Roman" panose="02020603050405020304" pitchFamily="18" charset="0"/>
              </a:rPr>
              <a:t> khoản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đó</a:t>
            </a:r>
            <a:r>
              <a:rPr lang="en-US" sz="2400">
                <a:latin typeface="Times New Roman" panose="02020603050405020304" pitchFamily="18" charset="0"/>
                <a:cs typeface="Times New Roman" panose="02020603050405020304" pitchFamily="18" charset="0"/>
              </a:rPr>
              <a:t> thực hiện </a:t>
            </a: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muốn</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58241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hỗ dành sẵn cho Nội dung 11" descr="Ảnh có chứa ảnh chụp màn hình, văn bản, vòng tròn, hàng&#10;&#10;Mô tả được tạo tự động">
            <a:extLst>
              <a:ext uri="{FF2B5EF4-FFF2-40B4-BE49-F238E27FC236}">
                <a16:creationId xmlns:a16="http://schemas.microsoft.com/office/drawing/2014/main" id="{3BE185D2-72AE-CA66-75EA-B0C31EDA5E5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87036" y="0"/>
            <a:ext cx="12191999" cy="6858000"/>
          </a:xfrm>
        </p:spPr>
      </p:pic>
      <p:sp>
        <p:nvSpPr>
          <p:cNvPr id="2" name="Tiêu đề 1">
            <a:extLst>
              <a:ext uri="{FF2B5EF4-FFF2-40B4-BE49-F238E27FC236}">
                <a16:creationId xmlns:a16="http://schemas.microsoft.com/office/drawing/2014/main" id="{875DF139-1183-2FE7-1EE1-F0393B8D407E}"/>
              </a:ext>
            </a:extLst>
          </p:cNvPr>
          <p:cNvSpPr>
            <a:spLocks noGrp="1"/>
          </p:cNvSpPr>
          <p:nvPr>
            <p:ph type="title"/>
          </p:nvPr>
        </p:nvSpPr>
        <p:spPr>
          <a:xfrm>
            <a:off x="2448455" y="509588"/>
            <a:ext cx="10515600" cy="1006475"/>
          </a:xfrm>
        </p:spPr>
        <p:txBody>
          <a:bodyPr>
            <a:normAutofit fontScale="90000"/>
          </a:bodyPr>
          <a:lstStyle/>
          <a:p>
            <a:r>
              <a:rPr lang="en-US" sz="4400" b="1">
                <a:latin typeface="Times New Roman" panose="02020603050405020304" pitchFamily="18" charset="0"/>
                <a:cs typeface="Times New Roman" panose="02020603050405020304" pitchFamily="18" charset="0"/>
              </a:rPr>
              <a:t>Chương 4: ƯU ĐIỂM VÀ KHUYẾT ĐIỂM </a:t>
            </a:r>
            <a:br>
              <a:rPr lang="en-US" sz="4400" b="1">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3" name="Chỗ dành sẵn cho Văn bản 2">
            <a:extLst>
              <a:ext uri="{FF2B5EF4-FFF2-40B4-BE49-F238E27FC236}">
                <a16:creationId xmlns:a16="http://schemas.microsoft.com/office/drawing/2014/main" id="{D81D84ED-16F2-1BF9-A08F-0A618EF329C2}"/>
              </a:ext>
            </a:extLst>
          </p:cNvPr>
          <p:cNvSpPr>
            <a:spLocks noGrp="1"/>
          </p:cNvSpPr>
          <p:nvPr>
            <p:ph type="body" idx="1"/>
          </p:nvPr>
        </p:nvSpPr>
        <p:spPr/>
        <p:txBody>
          <a:bodyPr/>
          <a:lstStyle/>
          <a:p>
            <a:pPr algn="ctr"/>
            <a:r>
              <a:rPr lang="en-US">
                <a:latin typeface="Times New Roman" panose="02020603050405020304" pitchFamily="18" charset="0"/>
                <a:cs typeface="Times New Roman" panose="02020603050405020304" pitchFamily="18" charset="0"/>
              </a:rPr>
              <a:t>ƯU ĐIỂM </a:t>
            </a:r>
          </a:p>
        </p:txBody>
      </p:sp>
      <p:sp>
        <p:nvSpPr>
          <p:cNvPr id="5" name="Chỗ dành sẵn cho Văn bản 4">
            <a:extLst>
              <a:ext uri="{FF2B5EF4-FFF2-40B4-BE49-F238E27FC236}">
                <a16:creationId xmlns:a16="http://schemas.microsoft.com/office/drawing/2014/main" id="{075B500B-ECF7-B5B2-7E46-A980CB176E6E}"/>
              </a:ext>
            </a:extLst>
          </p:cNvPr>
          <p:cNvSpPr>
            <a:spLocks noGrp="1"/>
          </p:cNvSpPr>
          <p:nvPr>
            <p:ph type="body" sz="quarter" idx="3"/>
          </p:nvPr>
        </p:nvSpPr>
        <p:spPr/>
        <p:txBody>
          <a:bodyPr>
            <a:normAutofit/>
          </a:bodyPr>
          <a:lstStyle/>
          <a:p>
            <a:pPr algn="ctr"/>
            <a:r>
              <a:rPr lang="vi-VN" dirty="0">
                <a:latin typeface="Times New Roman" panose="02020603050405020304" pitchFamily="18" charset="0"/>
                <a:cs typeface="Times New Roman" panose="02020603050405020304" pitchFamily="18" charset="0"/>
              </a:rPr>
              <a:t>KHUYẾT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p>
        </p:txBody>
      </p:sp>
      <p:sp>
        <p:nvSpPr>
          <p:cNvPr id="14" name="Hộp Văn bản 13">
            <a:extLst>
              <a:ext uri="{FF2B5EF4-FFF2-40B4-BE49-F238E27FC236}">
                <a16:creationId xmlns:a16="http://schemas.microsoft.com/office/drawing/2014/main" id="{F272A147-6A56-DDD3-5319-E29FF23A194D}"/>
              </a:ext>
            </a:extLst>
          </p:cNvPr>
          <p:cNvSpPr txBox="1"/>
          <p:nvPr/>
        </p:nvSpPr>
        <p:spPr>
          <a:xfrm>
            <a:off x="1871134" y="2814539"/>
            <a:ext cx="3342745" cy="230832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dạng</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Giao </a:t>
            </a:r>
            <a:r>
              <a:rPr lang="en-US" sz="2400" dirty="0" err="1">
                <a:latin typeface="Times New Roman" panose="02020603050405020304" pitchFamily="18" charset="0"/>
                <a:cs typeface="Times New Roman" panose="02020603050405020304" pitchFamily="18" charset="0"/>
              </a:rPr>
              <a:t>diện</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dễ</a:t>
            </a:r>
            <a:r>
              <a:rPr lang="en-US" sz="2400">
                <a:latin typeface="Times New Roman" panose="02020603050405020304" pitchFamily="18" charset="0"/>
                <a:cs typeface="Times New Roman" panose="02020603050405020304" pitchFamily="18" charset="0"/>
              </a:rPr>
              <a:t> dùng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tệp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lưu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p>
        </p:txBody>
      </p:sp>
      <p:sp>
        <p:nvSpPr>
          <p:cNvPr id="17" name="Hộp Văn bản 16">
            <a:extLst>
              <a:ext uri="{FF2B5EF4-FFF2-40B4-BE49-F238E27FC236}">
                <a16:creationId xmlns:a16="http://schemas.microsoft.com/office/drawing/2014/main" id="{52022C74-56FE-093D-5877-9A8BE3A04706}"/>
              </a:ext>
            </a:extLst>
          </p:cNvPr>
          <p:cNvSpPr txBox="1"/>
          <p:nvPr/>
        </p:nvSpPr>
        <p:spPr>
          <a:xfrm>
            <a:off x="7085013" y="2868513"/>
            <a:ext cx="4158721"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khẩu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con </a:t>
            </a:r>
            <a:r>
              <a:rPr lang="en-US" sz="2400" dirty="0" err="1">
                <a:latin typeface="Times New Roman" panose="02020603050405020304" pitchFamily="18" charset="0"/>
                <a:cs typeface="Times New Roman" panose="02020603050405020304" pitchFamily="18" charset="0"/>
              </a:rPr>
              <a:t>nhưng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Xem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04714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ảnh chụp màn hình, văn bản, vòng tròn, hàng&#10;&#10;Mô tả được tạo tự động">
            <a:extLst>
              <a:ext uri="{FF2B5EF4-FFF2-40B4-BE49-F238E27FC236}">
                <a16:creationId xmlns:a16="http://schemas.microsoft.com/office/drawing/2014/main" id="{F73AAF72-61DC-51D1-B5E9-B6EE725EA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056120"/>
          </a:xfrm>
        </p:spPr>
      </p:pic>
      <p:sp>
        <p:nvSpPr>
          <p:cNvPr id="9" name="Hộp Văn bản 8">
            <a:extLst>
              <a:ext uri="{FF2B5EF4-FFF2-40B4-BE49-F238E27FC236}">
                <a16:creationId xmlns:a16="http://schemas.microsoft.com/office/drawing/2014/main" id="{A070CF08-730E-8F37-3D17-5A0ABAC17BC8}"/>
              </a:ext>
            </a:extLst>
          </p:cNvPr>
          <p:cNvSpPr txBox="1"/>
          <p:nvPr/>
        </p:nvSpPr>
        <p:spPr>
          <a:xfrm>
            <a:off x="2987039" y="333494"/>
            <a:ext cx="8121227" cy="707886"/>
          </a:xfrm>
          <a:prstGeom prst="rect">
            <a:avLst/>
          </a:prstGeom>
          <a:noFill/>
        </p:spPr>
        <p:txBody>
          <a:bodyPr wrap="square">
            <a:spAutoFit/>
          </a:bodyPr>
          <a:lstStyle/>
          <a:p>
            <a:r>
              <a:rPr lang="en-US" sz="4000" b="1">
                <a:latin typeface="Times New Roman" panose="02020603050405020304" pitchFamily="18" charset="0"/>
                <a:cs typeface="Times New Roman" panose="02020603050405020304" pitchFamily="18" charset="0"/>
              </a:rPr>
              <a:t>Chương 5: HƯỚNG PHÁT TRIỂN</a:t>
            </a:r>
          </a:p>
        </p:txBody>
      </p:sp>
      <p:sp>
        <p:nvSpPr>
          <p:cNvPr id="7" name="Hộp Văn bản 6">
            <a:extLst>
              <a:ext uri="{FF2B5EF4-FFF2-40B4-BE49-F238E27FC236}">
                <a16:creationId xmlns:a16="http://schemas.microsoft.com/office/drawing/2014/main" id="{FCB0BF9C-8F9E-381E-DD87-1D1DBD5C1566}"/>
              </a:ext>
            </a:extLst>
          </p:cNvPr>
          <p:cNvSpPr txBox="1"/>
          <p:nvPr/>
        </p:nvSpPr>
        <p:spPr>
          <a:xfrm>
            <a:off x="1354667" y="2155924"/>
            <a:ext cx="4741333" cy="378565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con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khẩu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con </a:t>
            </a:r>
            <a:r>
              <a:rPr lang="en-US" sz="2400" dirty="0" err="1">
                <a:latin typeface="Times New Roman" panose="02020603050405020304" pitchFamily="18" charset="0"/>
                <a:cs typeface="Times New Roman" panose="02020603050405020304" pitchFamily="18" charset="0"/>
              </a:rPr>
              <a:t>lịch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Thêm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gủi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chuyển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tiền</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thể</a:t>
            </a:r>
            <a:r>
              <a:rPr lang="en-US" sz="2400">
                <a:latin typeface="Times New Roman" panose="02020603050405020304" pitchFamily="18" charset="0"/>
                <a:cs typeface="Times New Roman" panose="02020603050405020304" pitchFamily="18" charset="0"/>
              </a:rPr>
              <a:t> thêm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admin có thể thêm: </a:t>
            </a:r>
            <a:r>
              <a:rPr lang="en-US" sz="2400" dirty="0" err="1">
                <a:latin typeface="Times New Roman" panose="02020603050405020304" pitchFamily="18" charset="0"/>
                <a:cs typeface="Times New Roman" panose="02020603050405020304" pitchFamily="18" charset="0"/>
              </a:rPr>
              <a:t>xem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a:t>
            </a:r>
          </a:p>
        </p:txBody>
      </p:sp>
      <p:pic>
        <p:nvPicPr>
          <p:cNvPr id="11" name="Hình ảnh 10" descr="Ảnh có chứa hình mẫu, thiết kế đồ họa, minh họa, phim hoạt hình&#10;&#10;Mô tả được tạo tự động">
            <a:extLst>
              <a:ext uri="{FF2B5EF4-FFF2-40B4-BE49-F238E27FC236}">
                <a16:creationId xmlns:a16="http://schemas.microsoft.com/office/drawing/2014/main" id="{9831A13B-8542-572B-09A8-6216EE92A7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9867" y="2155924"/>
            <a:ext cx="5695054" cy="4318000"/>
          </a:xfrm>
          <a:prstGeom prst="rect">
            <a:avLst/>
          </a:prstGeom>
        </p:spPr>
      </p:pic>
    </p:spTree>
    <p:extLst>
      <p:ext uri="{BB962C8B-B14F-4D97-AF65-F5344CB8AC3E}">
        <p14:creationId xmlns:p14="http://schemas.microsoft.com/office/powerpoint/2010/main" val="3749701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descr="Ảnh có chứa văn bản, ảnh chụp màn hình, biểu tượng, Đồ họa&#10;&#10;Mô tả được tạo tự động">
            <a:extLst>
              <a:ext uri="{FF2B5EF4-FFF2-40B4-BE49-F238E27FC236}">
                <a16:creationId xmlns:a16="http://schemas.microsoft.com/office/drawing/2014/main" id="{24AC7938-4E42-2955-8316-A6A59504D4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58001"/>
          </a:xfrm>
        </p:spPr>
      </p:pic>
      <p:sp>
        <p:nvSpPr>
          <p:cNvPr id="6" name="Hộp Văn bản 5">
            <a:extLst>
              <a:ext uri="{FF2B5EF4-FFF2-40B4-BE49-F238E27FC236}">
                <a16:creationId xmlns:a16="http://schemas.microsoft.com/office/drawing/2014/main" id="{789B5455-2857-7820-E41D-468D4188C15E}"/>
              </a:ext>
            </a:extLst>
          </p:cNvPr>
          <p:cNvSpPr txBox="1"/>
          <p:nvPr/>
        </p:nvSpPr>
        <p:spPr>
          <a:xfrm>
            <a:off x="3285067" y="2767279"/>
            <a:ext cx="6265333" cy="1938992"/>
          </a:xfrm>
          <a:prstGeom prst="rect">
            <a:avLst/>
          </a:prstGeom>
          <a:noFill/>
        </p:spPr>
        <p:txBody>
          <a:bodyPr wrap="square" rtlCol="0">
            <a:spAutoFit/>
          </a:bodyPr>
          <a:lstStyle/>
          <a:p>
            <a:pPr algn="ctr"/>
            <a:r>
              <a:rPr lang="en-US" sz="4000" b="1">
                <a:latin typeface="Times New Roman" panose="02020603050405020304" pitchFamily="18" charset="0"/>
                <a:cs typeface="Times New Roman" panose="02020603050405020304" pitchFamily="18" charset="0"/>
              </a:rPr>
              <a:t>Xin chân thành cảm ơn thầy và các bạn đã lắng nghe! </a:t>
            </a:r>
          </a:p>
        </p:txBody>
      </p:sp>
    </p:spTree>
    <p:extLst>
      <p:ext uri="{BB962C8B-B14F-4D97-AF65-F5344CB8AC3E}">
        <p14:creationId xmlns:p14="http://schemas.microsoft.com/office/powerpoint/2010/main" val="396847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347</TotalTime>
  <Words>978</Words>
  <Application>Microsoft Office PowerPoint</Application>
  <PresentationFormat>Màn hình rộng</PresentationFormat>
  <Paragraphs>93</Paragraphs>
  <Slides>16</Slides>
  <Notes>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16</vt:i4>
      </vt:variant>
    </vt:vector>
  </HeadingPairs>
  <TitlesOfParts>
    <vt:vector size="22" baseType="lpstr">
      <vt:lpstr>Aptos</vt:lpstr>
      <vt:lpstr>Aptos Display</vt:lpstr>
      <vt:lpstr>Arial</vt:lpstr>
      <vt:lpstr>Calibri Light</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Chương 4: ƯU ĐIỂM VÀ KHUYẾT ĐIỂM  </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 trình bày PowerPoint</dc:title>
  <dc:creator>khang nguyen</dc:creator>
  <cp:lastModifiedBy>khang nguyen</cp:lastModifiedBy>
  <cp:revision>4</cp:revision>
  <dcterms:created xsi:type="dcterms:W3CDTF">2024-03-31T15:42:59Z</dcterms:created>
  <dcterms:modified xsi:type="dcterms:W3CDTF">2024-04-02T05:59:00Z</dcterms:modified>
</cp:coreProperties>
</file>